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778"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Revenue by Gender (Cr TRY)</a:t>
            </a:r>
          </a:p>
        </c:rich>
      </c:tx>
      <c:overlay val="0"/>
    </c:title>
    <c:autoTitleDeleted val="0"/>
    <c:plotArea>
      <c:layout/>
      <c:barChart>
        <c:barDir val="col"/>
        <c:grouping val="clustered"/>
        <c:varyColors val="0"/>
        <c:ser>
          <c:idx val="0"/>
          <c:order val="0"/>
          <c:tx>
            <c:strRef>
              <c:f>Sheet1!$B$1</c:f>
              <c:strCache>
                <c:ptCount val="1"/>
                <c:pt idx="0">
                  <c:v>Revenue (Cr TRY)</c:v>
                </c:pt>
              </c:strCache>
            </c:strRef>
          </c:tx>
          <c:spPr>
            <a:solidFill>
              <a:srgbClr val="0A7EA4"/>
            </a:solidFill>
            <a:effectLst/>
          </c:spPr>
          <c:invertIfNegative val="0"/>
          <c:dPt>
            <c:idx val="0"/>
            <c:invertIfNegative val="0"/>
            <c:bubble3D val="0"/>
            <c:extLst>
              <c:ext xmlns:c16="http://schemas.microsoft.com/office/drawing/2014/chart" uri="{C3380CC4-5D6E-409C-BE32-E72D297353CC}">
                <c16:uniqueId val="{00000001-8990-4732-8F88-BBFF675D50B8}"/>
              </c:ext>
            </c:extLst>
          </c:dPt>
          <c:dPt>
            <c:idx val="1"/>
            <c:invertIfNegative val="0"/>
            <c:bubble3D val="0"/>
            <c:spPr>
              <a:solidFill>
                <a:srgbClr val="1E3A5F"/>
              </a:solidFill>
              <a:effectLst/>
            </c:spPr>
            <c:extLst>
              <c:ext xmlns:c16="http://schemas.microsoft.com/office/drawing/2014/chart" uri="{C3380CC4-5D6E-409C-BE32-E72D297353CC}">
                <c16:uniqueId val="{00000003-8990-4732-8F88-BBFF675D50B8}"/>
              </c:ext>
            </c:extLst>
          </c:dPt>
          <c:dLbls>
            <c:numFmt formatCode="#,##0" sourceLinked="0"/>
            <c:spPr>
              <a:noFill/>
              <a:ln>
                <a:noFill/>
              </a:ln>
              <a:effectLst/>
            </c:spPr>
            <c:txPr>
              <a:bodyPr/>
              <a:lstStyle/>
              <a:p>
                <a:pPr>
                  <a:defRPr sz="1200" b="0" i="0" u="none" strike="noStrike">
                    <a:solidFill>
                      <a:srgbClr val="0D1B4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Female</c:v>
                </c:pt>
                <c:pt idx="1">
                  <c:v>Male</c:v>
                </c:pt>
              </c:strCache>
            </c:strRef>
          </c:cat>
          <c:val>
            <c:numRef>
              <c:f>Sheet1!$B$2:$B$3</c:f>
              <c:numCache>
                <c:formatCode>General</c:formatCode>
                <c:ptCount val="2"/>
                <c:pt idx="0">
                  <c:v>15.02</c:v>
                </c:pt>
                <c:pt idx="1">
                  <c:v>10.130000000000001</c:v>
                </c:pt>
              </c:numCache>
            </c:numRef>
          </c:val>
          <c:extLst>
            <c:ext xmlns:c16="http://schemas.microsoft.com/office/drawing/2014/chart" uri="{C3380CC4-5D6E-409C-BE32-E72D297353CC}">
              <c16:uniqueId val="{00000004-8990-4732-8F88-BBFF675D50B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Products Sold</c:v>
                </c:pt>
              </c:strCache>
            </c:strRef>
          </c:tx>
          <c:spPr>
            <a:solidFill>
              <a:srgbClr val="0A7EA4"/>
            </a:solidFill>
            <a:effectLst/>
          </c:spPr>
          <c:invertIfNegative val="0"/>
          <c:dLbls>
            <c:numFmt formatCode="#,##0" sourceLinked="0"/>
            <c:spPr>
              <a:noFill/>
              <a:ln>
                <a:noFill/>
              </a:ln>
              <a:effectLst/>
            </c:spPr>
            <c:txPr>
              <a:bodyPr/>
              <a:lstStyle/>
              <a:p>
                <a:pPr>
                  <a:defRPr sz="1200" b="0" i="0" u="none" strike="noStrike">
                    <a:solidFill>
                      <a:srgbClr val="0D1B4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36-45</c:v>
                </c:pt>
                <c:pt idx="1">
                  <c:v>26-35</c:v>
                </c:pt>
                <c:pt idx="2">
                  <c:v>46-55</c:v>
                </c:pt>
                <c:pt idx="3">
                  <c:v>56-65</c:v>
                </c:pt>
                <c:pt idx="4">
                  <c:v>18-25</c:v>
                </c:pt>
                <c:pt idx="5">
                  <c:v>65+</c:v>
                </c:pt>
              </c:strCache>
            </c:strRef>
          </c:cat>
          <c:val>
            <c:numRef>
              <c:f>Sheet1!$B$2:$B$7</c:f>
              <c:numCache>
                <c:formatCode>General</c:formatCode>
                <c:ptCount val="6"/>
                <c:pt idx="0">
                  <c:v>58483</c:v>
                </c:pt>
                <c:pt idx="1">
                  <c:v>57265</c:v>
                </c:pt>
                <c:pt idx="2">
                  <c:v>57086</c:v>
                </c:pt>
                <c:pt idx="3">
                  <c:v>57065</c:v>
                </c:pt>
                <c:pt idx="4">
                  <c:v>46028</c:v>
                </c:pt>
                <c:pt idx="5">
                  <c:v>22785</c:v>
                </c:pt>
              </c:numCache>
            </c:numRef>
          </c:val>
          <c:extLst>
            <c:ext xmlns:c16="http://schemas.microsoft.com/office/drawing/2014/chart" uri="{C3380CC4-5D6E-409C-BE32-E72D297353CC}">
              <c16:uniqueId val="{00000000-01BC-4700-A64A-2BA51BB49E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Payment Method Split</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Usage</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0A41-49E8-B7EB-34E059738B7E}"/>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0A41-49E8-B7EB-34E059738B7E}"/>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0A41-49E8-B7EB-34E059738B7E}"/>
              </c:ext>
            </c:extLst>
          </c:dPt>
          <c:dLbls>
            <c:dLbl>
              <c:idx val="0"/>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A41-49E8-B7EB-34E059738B7E}"/>
                </c:ext>
              </c:extLst>
            </c:dLbl>
            <c:dLbl>
              <c:idx val="1"/>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A41-49E8-B7EB-34E059738B7E}"/>
                </c:ext>
              </c:extLst>
            </c:dLbl>
            <c:dLbl>
              <c:idx val="2"/>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A41-49E8-B7EB-34E059738B7E}"/>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Cash</c:v>
                </c:pt>
                <c:pt idx="1">
                  <c:v>Credit Card</c:v>
                </c:pt>
                <c:pt idx="2">
                  <c:v>Debit Card</c:v>
                </c:pt>
              </c:strCache>
            </c:strRef>
          </c:cat>
          <c:val>
            <c:numRef>
              <c:f>Sheet1!$B$2:$B$4</c:f>
              <c:numCache>
                <c:formatCode>General</c:formatCode>
                <c:ptCount val="3"/>
                <c:pt idx="0">
                  <c:v>44447</c:v>
                </c:pt>
                <c:pt idx="1">
                  <c:v>34931</c:v>
                </c:pt>
                <c:pt idx="2">
                  <c:v>20079</c:v>
                </c:pt>
              </c:numCache>
            </c:numRef>
          </c:val>
          <c:extLst>
            <c:ext xmlns:c16="http://schemas.microsoft.com/office/drawing/2014/chart" uri="{C3380CC4-5D6E-409C-BE32-E72D297353CC}">
              <c16:uniqueId val="{00000006-0A41-49E8-B7EB-34E059738B7E}"/>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876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6583680" y="-1371600"/>
            <a:ext cx="4114800" cy="4114800"/>
          </a:xfrm>
          <a:prstGeom prst="ellipse">
            <a:avLst/>
          </a:prstGeom>
          <a:solidFill>
            <a:srgbClr val="0A7EA4">
              <a:alpha val="20000"/>
            </a:srgbClr>
          </a:solidFill>
          <a:ln/>
        </p:spPr>
      </p:sp>
      <p:sp>
        <p:nvSpPr>
          <p:cNvPr id="3" name="Shape 1"/>
          <p:cNvSpPr/>
          <p:nvPr/>
        </p:nvSpPr>
        <p:spPr>
          <a:xfrm>
            <a:off x="7132320" y="-914400"/>
            <a:ext cx="2743200" cy="2743200"/>
          </a:xfrm>
          <a:prstGeom prst="ellipse">
            <a:avLst/>
          </a:prstGeom>
          <a:solidFill>
            <a:srgbClr val="5EC8E5">
              <a:alpha val="17000"/>
            </a:srgbClr>
          </a:solidFill>
          <a:ln/>
        </p:spPr>
      </p:sp>
      <p:sp>
        <p:nvSpPr>
          <p:cNvPr id="4" name="Shape 2"/>
          <p:cNvSpPr/>
          <p:nvPr/>
        </p:nvSpPr>
        <p:spPr>
          <a:xfrm>
            <a:off x="-1371600" y="3200400"/>
            <a:ext cx="3657600" cy="3657600"/>
          </a:xfrm>
          <a:prstGeom prst="ellipse">
            <a:avLst/>
          </a:prstGeom>
          <a:solidFill>
            <a:srgbClr val="1499C5">
              <a:alpha val="15000"/>
            </a:srgbClr>
          </a:solidFill>
          <a:ln/>
        </p:spPr>
      </p:sp>
      <p:sp>
        <p:nvSpPr>
          <p:cNvPr id="5" name="Shape 3"/>
          <p:cNvSpPr/>
          <p:nvPr/>
        </p:nvSpPr>
        <p:spPr>
          <a:xfrm>
            <a:off x="0" y="0"/>
            <a:ext cx="109728" cy="5143500"/>
          </a:xfrm>
          <a:prstGeom prst="rect">
            <a:avLst/>
          </a:prstGeom>
          <a:solidFill>
            <a:srgbClr val="0A7EA4"/>
          </a:solidFill>
          <a:ln/>
        </p:spPr>
      </p:sp>
      <p:sp>
        <p:nvSpPr>
          <p:cNvPr id="6" name="Shape 4"/>
          <p:cNvSpPr/>
          <p:nvPr/>
        </p:nvSpPr>
        <p:spPr>
          <a:xfrm>
            <a:off x="0" y="4828032"/>
            <a:ext cx="9144000" cy="315468"/>
          </a:xfrm>
          <a:prstGeom prst="rect">
            <a:avLst/>
          </a:prstGeom>
          <a:solidFill>
            <a:srgbClr val="0B1230"/>
          </a:solidFill>
          <a:ln/>
        </p:spPr>
      </p:sp>
      <p:sp>
        <p:nvSpPr>
          <p:cNvPr id="7" name="Text 5"/>
          <p:cNvSpPr/>
          <p:nvPr/>
        </p:nvSpPr>
        <p:spPr>
          <a:xfrm>
            <a:off x="365760" y="594360"/>
            <a:ext cx="7772400" cy="502920"/>
          </a:xfrm>
          <a:prstGeom prst="rect">
            <a:avLst/>
          </a:prstGeom>
          <a:noFill/>
          <a:ln/>
        </p:spPr>
        <p:txBody>
          <a:bodyPr wrap="square" lIns="0" tIns="0" rIns="0" bIns="0" rtlCol="0" anchor="ctr"/>
          <a:lstStyle/>
          <a:p>
            <a:pPr marL="0" indent="0">
              <a:buNone/>
            </a:pPr>
            <a:r>
              <a:rPr lang="en-US" sz="1300" b="1" kern="0" spc="500" dirty="0">
                <a:solidFill>
                  <a:srgbClr val="5EC8E5"/>
                </a:solidFill>
                <a:latin typeface="Trebuchet MS" pitchFamily="34" charset="0"/>
                <a:ea typeface="Trebuchet MS" pitchFamily="34" charset="-122"/>
                <a:cs typeface="Trebuchet MS" pitchFamily="34" charset="-120"/>
              </a:rPr>
              <a:t>CUSTOMER DATA ANALYSIS</a:t>
            </a:r>
            <a:endParaRPr lang="en-US" sz="1300" dirty="0"/>
          </a:p>
        </p:txBody>
      </p:sp>
      <p:sp>
        <p:nvSpPr>
          <p:cNvPr id="8" name="Text 6"/>
          <p:cNvSpPr/>
          <p:nvPr/>
        </p:nvSpPr>
        <p:spPr>
          <a:xfrm>
            <a:off x="365760" y="1097280"/>
            <a:ext cx="7772400" cy="100584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SQL Analysis Report</a:t>
            </a:r>
            <a:endParaRPr lang="en-US" sz="4400" dirty="0"/>
          </a:p>
        </p:txBody>
      </p:sp>
      <p:sp>
        <p:nvSpPr>
          <p:cNvPr id="9" name="Text 7"/>
          <p:cNvSpPr/>
          <p:nvPr/>
        </p:nvSpPr>
        <p:spPr>
          <a:xfrm>
            <a:off x="365760" y="2176272"/>
            <a:ext cx="7498080" cy="502920"/>
          </a:xfrm>
          <a:prstGeom prst="rect">
            <a:avLst/>
          </a:prstGeom>
          <a:noFill/>
          <a:ln/>
        </p:spPr>
        <p:txBody>
          <a:bodyPr wrap="square" lIns="0" tIns="0" rIns="0" bIns="0" rtlCol="0" anchor="ctr"/>
          <a:lstStyle/>
          <a:p>
            <a:pPr marL="0" indent="0">
              <a:buNone/>
            </a:pPr>
            <a:r>
              <a:rPr lang="en-US" sz="1300" i="1" dirty="0">
                <a:solidFill>
                  <a:srgbClr val="B0CCE0"/>
                </a:solidFill>
                <a:latin typeface="Calibri" pitchFamily="34" charset="0"/>
                <a:ea typeface="Calibri" pitchFamily="34" charset="-122"/>
                <a:cs typeface="Calibri" pitchFamily="34" charset="-120"/>
              </a:rPr>
              <a:t>Covering 9 Business Objectives on Gender, Age, Categories &amp; Payment Methods</a:t>
            </a:r>
            <a:endParaRPr lang="en-US" sz="1300" dirty="0"/>
          </a:p>
        </p:txBody>
      </p:sp>
      <p:sp>
        <p:nvSpPr>
          <p:cNvPr id="10" name="Shape 8"/>
          <p:cNvSpPr/>
          <p:nvPr/>
        </p:nvSpPr>
        <p:spPr>
          <a:xfrm>
            <a:off x="365760" y="2880360"/>
            <a:ext cx="2743200" cy="749808"/>
          </a:xfrm>
          <a:prstGeom prst="rect">
            <a:avLst/>
          </a:prstGeom>
          <a:solidFill>
            <a:srgbClr val="FFFFFF">
              <a:alpha val="12000"/>
            </a:srgbClr>
          </a:solidFill>
          <a:ln/>
        </p:spPr>
      </p:sp>
      <p:sp>
        <p:nvSpPr>
          <p:cNvPr id="11" name="Text 9"/>
          <p:cNvSpPr/>
          <p:nvPr/>
        </p:nvSpPr>
        <p:spPr>
          <a:xfrm>
            <a:off x="457200" y="2926080"/>
            <a:ext cx="2560320" cy="256032"/>
          </a:xfrm>
          <a:prstGeom prst="rect">
            <a:avLst/>
          </a:prstGeom>
          <a:noFill/>
          <a:ln/>
        </p:spPr>
        <p:txBody>
          <a:bodyPr wrap="square" lIns="0" tIns="0" rIns="0" bIns="0" rtlCol="0" anchor="ctr"/>
          <a:lstStyle/>
          <a:p>
            <a:pPr marL="0" indent="0">
              <a:buNone/>
            </a:pPr>
            <a:r>
              <a:rPr lang="en-US" sz="900" dirty="0">
                <a:solidFill>
                  <a:srgbClr val="B0CCE0"/>
                </a:solidFill>
                <a:latin typeface="Calibri" pitchFamily="34" charset="0"/>
                <a:ea typeface="Calibri" pitchFamily="34" charset="-122"/>
                <a:cs typeface="Calibri" pitchFamily="34" charset="-120"/>
              </a:rPr>
              <a:t>Project Title</a:t>
            </a:r>
            <a:endParaRPr lang="en-US" sz="900" dirty="0"/>
          </a:p>
        </p:txBody>
      </p:sp>
      <p:sp>
        <p:nvSpPr>
          <p:cNvPr id="12" name="Text 10"/>
          <p:cNvSpPr/>
          <p:nvPr/>
        </p:nvSpPr>
        <p:spPr>
          <a:xfrm>
            <a:off x="457200" y="3182112"/>
            <a:ext cx="2560320" cy="34747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Customer Data Analysis</a:t>
            </a:r>
            <a:endParaRPr lang="en-US" sz="1100" dirty="0"/>
          </a:p>
        </p:txBody>
      </p:sp>
      <p:sp>
        <p:nvSpPr>
          <p:cNvPr id="13" name="Shape 11"/>
          <p:cNvSpPr/>
          <p:nvPr/>
        </p:nvSpPr>
        <p:spPr>
          <a:xfrm>
            <a:off x="3246120" y="2880360"/>
            <a:ext cx="2743200" cy="749808"/>
          </a:xfrm>
          <a:prstGeom prst="rect">
            <a:avLst/>
          </a:prstGeom>
          <a:solidFill>
            <a:srgbClr val="FFFFFF">
              <a:alpha val="12000"/>
            </a:srgbClr>
          </a:solidFill>
          <a:ln/>
        </p:spPr>
      </p:sp>
      <p:sp>
        <p:nvSpPr>
          <p:cNvPr id="14" name="Text 12"/>
          <p:cNvSpPr/>
          <p:nvPr/>
        </p:nvSpPr>
        <p:spPr>
          <a:xfrm>
            <a:off x="3337560" y="2926080"/>
            <a:ext cx="2560320" cy="256032"/>
          </a:xfrm>
          <a:prstGeom prst="rect">
            <a:avLst/>
          </a:prstGeom>
          <a:noFill/>
          <a:ln/>
        </p:spPr>
        <p:txBody>
          <a:bodyPr wrap="square" lIns="0" tIns="0" rIns="0" bIns="0" rtlCol="0" anchor="ctr"/>
          <a:lstStyle/>
          <a:p>
            <a:pPr marL="0" indent="0">
              <a:buNone/>
            </a:pPr>
            <a:r>
              <a:rPr lang="en-US" sz="900" dirty="0">
                <a:solidFill>
                  <a:srgbClr val="B0CCE0"/>
                </a:solidFill>
                <a:latin typeface="Calibri" pitchFamily="34" charset="0"/>
                <a:ea typeface="Calibri" pitchFamily="34" charset="-122"/>
                <a:cs typeface="Calibri" pitchFamily="34" charset="-120"/>
              </a:rPr>
              <a:t>Project Code</a:t>
            </a:r>
            <a:endParaRPr lang="en-US" sz="900" dirty="0"/>
          </a:p>
        </p:txBody>
      </p:sp>
      <p:sp>
        <p:nvSpPr>
          <p:cNvPr id="15" name="Text 13"/>
          <p:cNvSpPr/>
          <p:nvPr/>
        </p:nvSpPr>
        <p:spPr>
          <a:xfrm>
            <a:off x="3337560" y="3182112"/>
            <a:ext cx="2560320" cy="34747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PRDA-05</a:t>
            </a:r>
            <a:endParaRPr lang="en-US" sz="1100" dirty="0"/>
          </a:p>
        </p:txBody>
      </p:sp>
      <p:sp>
        <p:nvSpPr>
          <p:cNvPr id="16" name="Shape 14"/>
          <p:cNvSpPr/>
          <p:nvPr/>
        </p:nvSpPr>
        <p:spPr>
          <a:xfrm>
            <a:off x="6126480" y="2880360"/>
            <a:ext cx="2743200" cy="749808"/>
          </a:xfrm>
          <a:prstGeom prst="rect">
            <a:avLst/>
          </a:prstGeom>
          <a:solidFill>
            <a:srgbClr val="FFFFFF">
              <a:alpha val="12000"/>
            </a:srgbClr>
          </a:solidFill>
          <a:ln/>
        </p:spPr>
      </p:sp>
      <p:sp>
        <p:nvSpPr>
          <p:cNvPr id="17" name="Text 15"/>
          <p:cNvSpPr/>
          <p:nvPr/>
        </p:nvSpPr>
        <p:spPr>
          <a:xfrm>
            <a:off x="6217920" y="2926080"/>
            <a:ext cx="2560320" cy="256032"/>
          </a:xfrm>
          <a:prstGeom prst="rect">
            <a:avLst/>
          </a:prstGeom>
          <a:noFill/>
          <a:ln/>
        </p:spPr>
        <p:txBody>
          <a:bodyPr wrap="square" lIns="0" tIns="0" rIns="0" bIns="0" rtlCol="0" anchor="ctr"/>
          <a:lstStyle/>
          <a:p>
            <a:pPr marL="0" indent="0">
              <a:buNone/>
            </a:pPr>
            <a:r>
              <a:rPr lang="en-US" sz="900" dirty="0">
                <a:solidFill>
                  <a:srgbClr val="B0CCE0"/>
                </a:solidFill>
                <a:latin typeface="Calibri" pitchFamily="34" charset="0"/>
                <a:ea typeface="Calibri" pitchFamily="34" charset="-122"/>
                <a:cs typeface="Calibri" pitchFamily="34" charset="-120"/>
              </a:rPr>
              <a:t>Team ID</a:t>
            </a:r>
            <a:endParaRPr lang="en-US" sz="900" dirty="0"/>
          </a:p>
        </p:txBody>
      </p:sp>
      <p:sp>
        <p:nvSpPr>
          <p:cNvPr id="18" name="Text 16"/>
          <p:cNvSpPr/>
          <p:nvPr/>
        </p:nvSpPr>
        <p:spPr>
          <a:xfrm>
            <a:off x="6217920" y="3182112"/>
            <a:ext cx="2560320" cy="34747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PTID-CDA-FEB-26-1336</a:t>
            </a:r>
            <a:endParaRPr lang="en-US" sz="1100" dirty="0"/>
          </a:p>
        </p:txBody>
      </p:sp>
      <p:sp>
        <p:nvSpPr>
          <p:cNvPr id="19" name="Text 17"/>
          <p:cNvSpPr/>
          <p:nvPr/>
        </p:nvSpPr>
        <p:spPr>
          <a:xfrm>
            <a:off x="274320" y="4864608"/>
            <a:ext cx="8595360" cy="201168"/>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4B"/>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Q1  |  How Is the Shopping Distribution According to Gender?</a:t>
            </a:r>
            <a:endParaRPr lang="en-US" sz="1900" dirty="0"/>
          </a:p>
        </p:txBody>
      </p:sp>
      <p:sp>
        <p:nvSpPr>
          <p:cNvPr id="4" name="Shape 2"/>
          <p:cNvSpPr/>
          <p:nvPr/>
        </p:nvSpPr>
        <p:spPr>
          <a:xfrm>
            <a:off x="274320" y="777240"/>
            <a:ext cx="4114800" cy="214884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172821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COUNT(gender) AS Total_Orders,</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(COUNT(gender) / (SELECT COUNT(*) FROM customer)) * 100</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AS Percentage</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Total_Orders DESC;</a:t>
            </a:r>
            <a:endParaRPr lang="en-US" sz="900" dirty="0"/>
          </a:p>
        </p:txBody>
      </p:sp>
      <p:sp>
        <p:nvSpPr>
          <p:cNvPr id="8" name="Shape 6"/>
          <p:cNvSpPr/>
          <p:nvPr/>
        </p:nvSpPr>
        <p:spPr>
          <a:xfrm>
            <a:off x="4663440" y="777240"/>
            <a:ext cx="4206240" cy="214884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2148840"/>
          </a:xfrm>
          <a:prstGeom prst="rect">
            <a:avLst/>
          </a:prstGeom>
          <a:solidFill>
            <a:srgbClr val="0A7EA4"/>
          </a:solidFill>
          <a:ln/>
        </p:spPr>
      </p:sp>
      <p:sp>
        <p:nvSpPr>
          <p:cNvPr id="10" name="Text 8"/>
          <p:cNvSpPr/>
          <p:nvPr/>
        </p:nvSpPr>
        <p:spPr>
          <a:xfrm>
            <a:off x="4809744" y="886968"/>
            <a:ext cx="3950208" cy="192938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This query counts the total number of orders placed by each gender. A nested subquery calculates the total customer count, allowing us to compute each gender's percentage share of overall orders. Results are sorted in descending order to show the dominant gender first.</a:t>
            </a:r>
            <a:endParaRPr lang="en-US" sz="1100" dirty="0"/>
          </a:p>
        </p:txBody>
      </p:sp>
      <p:sp>
        <p:nvSpPr>
          <p:cNvPr id="11" name="Shape 9"/>
          <p:cNvSpPr/>
          <p:nvPr/>
        </p:nvSpPr>
        <p:spPr>
          <a:xfrm>
            <a:off x="274320" y="3063240"/>
            <a:ext cx="8595360" cy="347472"/>
          </a:xfrm>
          <a:prstGeom prst="rect">
            <a:avLst/>
          </a:prstGeom>
          <a:solidFill>
            <a:srgbClr val="0D1B4B"/>
          </a:solidFill>
          <a:ln/>
        </p:spPr>
      </p:sp>
      <p:sp>
        <p:nvSpPr>
          <p:cNvPr id="12" name="Text 10"/>
          <p:cNvSpPr/>
          <p:nvPr/>
        </p:nvSpPr>
        <p:spPr>
          <a:xfrm>
            <a:off x="320040" y="3081528"/>
            <a:ext cx="85039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Query 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3429000"/>
          <a:ext cx="8595360" cy="960120"/>
        </p:xfrm>
        <a:graphic>
          <a:graphicData uri="http://schemas.openxmlformats.org/drawingml/2006/table">
            <a:tbl>
              <a:tblPr/>
              <a:tblGrid>
                <a:gridCol w="283464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2004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Gender</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Total Orders</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Percentage</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extLst>
                  <a:ext uri="{0D108BD9-81ED-4DB2-BD59-A6C34878D82A}">
                    <a16:rowId xmlns:a16="http://schemas.microsoft.com/office/drawing/2014/main" val="10000"/>
                  </a:ext>
                </a:extLst>
              </a:tr>
              <a:tr h="32004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Female</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59,482</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59.80%</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1"/>
                  </a:ext>
                </a:extLst>
              </a:tr>
              <a:tr h="32004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Male</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39,975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40.20%</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Shape 11"/>
          <p:cNvSpPr/>
          <p:nvPr/>
        </p:nvSpPr>
        <p:spPr>
          <a:xfrm>
            <a:off x="274320" y="4645152"/>
            <a:ext cx="8595360" cy="256032"/>
          </a:xfrm>
          <a:prstGeom prst="rect">
            <a:avLst/>
          </a:prstGeom>
          <a:solidFill>
            <a:srgbClr val="0D1B4B">
              <a:alpha val="85000"/>
            </a:srgbClr>
          </a:solidFill>
          <a:ln/>
        </p:spPr>
      </p:sp>
      <p:sp>
        <p:nvSpPr>
          <p:cNvPr id="15" name="Text 12"/>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Female customers placed 59.80% of total orders — nearly 20,000 more than Male customers.</a:t>
            </a:r>
            <a:endParaRPr lang="en-US" sz="950" dirty="0"/>
          </a:p>
        </p:txBody>
      </p:sp>
      <p:sp>
        <p:nvSpPr>
          <p:cNvPr id="16" name="Shape 13"/>
          <p:cNvSpPr/>
          <p:nvPr/>
        </p:nvSpPr>
        <p:spPr>
          <a:xfrm>
            <a:off x="0" y="4919472"/>
            <a:ext cx="9144000" cy="224028"/>
          </a:xfrm>
          <a:prstGeom prst="rect">
            <a:avLst/>
          </a:prstGeom>
          <a:solidFill>
            <a:srgbClr val="0B1230"/>
          </a:solidFill>
          <a:ln/>
        </p:spPr>
      </p:sp>
      <p:sp>
        <p:nvSpPr>
          <p:cNvPr id="17" name="Text 14"/>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7EA4"/>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Q2  |  Which Gender Did We Sell More Products To?</a:t>
            </a:r>
            <a:endParaRPr lang="en-US" sz="1900" dirty="0"/>
          </a:p>
        </p:txBody>
      </p:sp>
      <p:sp>
        <p:nvSpPr>
          <p:cNvPr id="4" name="Shape 2"/>
          <p:cNvSpPr/>
          <p:nvPr/>
        </p:nvSpPr>
        <p:spPr>
          <a:xfrm>
            <a:off x="274320" y="777240"/>
            <a:ext cx="4114800" cy="182880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140817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SUM(quantity) AS Total_Quantity_Sold</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Total_Quantity_Sold DESC;</a:t>
            </a:r>
            <a:endParaRPr lang="en-US" sz="900" dirty="0"/>
          </a:p>
        </p:txBody>
      </p:sp>
      <p:sp>
        <p:nvSpPr>
          <p:cNvPr id="8" name="Shape 6"/>
          <p:cNvSpPr/>
          <p:nvPr/>
        </p:nvSpPr>
        <p:spPr>
          <a:xfrm>
            <a:off x="4663440" y="777240"/>
            <a:ext cx="4206240" cy="182880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1828800"/>
          </a:xfrm>
          <a:prstGeom prst="rect">
            <a:avLst/>
          </a:prstGeom>
          <a:solidFill>
            <a:srgbClr val="0A7EA4"/>
          </a:solidFill>
          <a:ln/>
        </p:spPr>
      </p:sp>
      <p:sp>
        <p:nvSpPr>
          <p:cNvPr id="10" name="Text 8"/>
          <p:cNvSpPr/>
          <p:nvPr/>
        </p:nvSpPr>
        <p:spPr>
          <a:xfrm>
            <a:off x="4809744" y="886968"/>
            <a:ext cx="3950208" cy="160934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This query aggregates the total quantity of products sold to each gender using SUM(). It helps identify which gender drives higher product volume — useful for inventory planning and targeted marketing campaigns.</a:t>
            </a:r>
            <a:endParaRPr lang="en-US" sz="1100" dirty="0"/>
          </a:p>
        </p:txBody>
      </p:sp>
      <p:sp>
        <p:nvSpPr>
          <p:cNvPr id="11" name="Shape 9"/>
          <p:cNvSpPr/>
          <p:nvPr/>
        </p:nvSpPr>
        <p:spPr>
          <a:xfrm>
            <a:off x="274320" y="2788920"/>
            <a:ext cx="2743200" cy="1691640"/>
          </a:xfrm>
          <a:prstGeom prst="rect">
            <a:avLst/>
          </a:prstGeom>
          <a:solidFill>
            <a:srgbClr val="0A7EA4"/>
          </a:solidFill>
          <a:ln/>
          <a:effectLst>
            <a:outerShdw blurRad="101600" dist="38100" dir="8100000" algn="bl" rotWithShape="0">
              <a:srgbClr val="000000">
                <a:alpha val="12000"/>
              </a:srgbClr>
            </a:outerShdw>
          </a:effectLst>
        </p:spPr>
      </p:sp>
      <p:sp>
        <p:nvSpPr>
          <p:cNvPr id="12" name="Text 10"/>
          <p:cNvSpPr/>
          <p:nvPr/>
        </p:nvSpPr>
        <p:spPr>
          <a:xfrm>
            <a:off x="384048" y="2880360"/>
            <a:ext cx="2542032"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Female</a:t>
            </a:r>
            <a:endParaRPr lang="en-US" sz="1300" dirty="0"/>
          </a:p>
        </p:txBody>
      </p:sp>
      <p:sp>
        <p:nvSpPr>
          <p:cNvPr id="13" name="Text 11"/>
          <p:cNvSpPr/>
          <p:nvPr/>
        </p:nvSpPr>
        <p:spPr>
          <a:xfrm>
            <a:off x="384048" y="3246120"/>
            <a:ext cx="2542032"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1,78,659</a:t>
            </a:r>
            <a:endParaRPr lang="en-US" sz="2600" dirty="0"/>
          </a:p>
        </p:txBody>
      </p:sp>
      <p:sp>
        <p:nvSpPr>
          <p:cNvPr id="14" name="Text 12"/>
          <p:cNvSpPr/>
          <p:nvPr/>
        </p:nvSpPr>
        <p:spPr>
          <a:xfrm>
            <a:off x="384048" y="3822192"/>
            <a:ext cx="2542032" cy="274320"/>
          </a:xfrm>
          <a:prstGeom prst="rect">
            <a:avLst/>
          </a:prstGeom>
          <a:noFill/>
          <a:ln/>
        </p:spPr>
        <p:txBody>
          <a:bodyPr wrap="square" lIns="0" tIns="0" rIns="0" bIns="0" rtlCol="0" anchor="ctr"/>
          <a:lstStyle/>
          <a:p>
            <a:pPr marL="0" indent="0">
              <a:buNone/>
            </a:pPr>
            <a:r>
              <a:rPr lang="en-US" sz="1000" i="1" dirty="0">
                <a:solidFill>
                  <a:srgbClr val="F7C948"/>
                </a:solidFill>
                <a:latin typeface="Calibri" pitchFamily="34" charset="0"/>
                <a:ea typeface="Calibri" pitchFamily="34" charset="-122"/>
                <a:cs typeface="Calibri" pitchFamily="34" charset="-120"/>
              </a:rPr>
              <a:t>59.80% of total</a:t>
            </a:r>
            <a:endParaRPr lang="en-US" sz="1000" dirty="0"/>
          </a:p>
        </p:txBody>
      </p:sp>
      <p:sp>
        <p:nvSpPr>
          <p:cNvPr id="15" name="Shape 13"/>
          <p:cNvSpPr/>
          <p:nvPr/>
        </p:nvSpPr>
        <p:spPr>
          <a:xfrm>
            <a:off x="3200400" y="2788920"/>
            <a:ext cx="2743200" cy="1691640"/>
          </a:xfrm>
          <a:prstGeom prst="rect">
            <a:avLst/>
          </a:prstGeom>
          <a:solidFill>
            <a:srgbClr val="1E3A5F"/>
          </a:solidFill>
          <a:ln/>
          <a:effectLst>
            <a:outerShdw blurRad="101600" dist="38100" dir="8100000" algn="bl" rotWithShape="0">
              <a:srgbClr val="000000">
                <a:alpha val="12000"/>
              </a:srgbClr>
            </a:outerShdw>
          </a:effectLst>
        </p:spPr>
      </p:sp>
      <p:sp>
        <p:nvSpPr>
          <p:cNvPr id="16" name="Text 14"/>
          <p:cNvSpPr/>
          <p:nvPr/>
        </p:nvSpPr>
        <p:spPr>
          <a:xfrm>
            <a:off x="3310128" y="2880360"/>
            <a:ext cx="2542032"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Male</a:t>
            </a:r>
            <a:endParaRPr lang="en-US" sz="1300" dirty="0"/>
          </a:p>
        </p:txBody>
      </p:sp>
      <p:sp>
        <p:nvSpPr>
          <p:cNvPr id="17" name="Text 15"/>
          <p:cNvSpPr/>
          <p:nvPr/>
        </p:nvSpPr>
        <p:spPr>
          <a:xfrm>
            <a:off x="3310128" y="3246120"/>
            <a:ext cx="2542032"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1,20,053</a:t>
            </a:r>
            <a:endParaRPr lang="en-US" sz="2600" dirty="0"/>
          </a:p>
        </p:txBody>
      </p:sp>
      <p:sp>
        <p:nvSpPr>
          <p:cNvPr id="18" name="Text 16"/>
          <p:cNvSpPr/>
          <p:nvPr/>
        </p:nvSpPr>
        <p:spPr>
          <a:xfrm>
            <a:off x="3310128" y="3822192"/>
            <a:ext cx="2542032" cy="274320"/>
          </a:xfrm>
          <a:prstGeom prst="rect">
            <a:avLst/>
          </a:prstGeom>
          <a:noFill/>
          <a:ln/>
        </p:spPr>
        <p:txBody>
          <a:bodyPr wrap="square" lIns="0" tIns="0" rIns="0" bIns="0" rtlCol="0" anchor="ctr"/>
          <a:lstStyle/>
          <a:p>
            <a:pPr marL="0" indent="0">
              <a:buNone/>
            </a:pPr>
            <a:r>
              <a:rPr lang="en-US" sz="1000" i="1" dirty="0">
                <a:solidFill>
                  <a:srgbClr val="F7C948"/>
                </a:solidFill>
                <a:latin typeface="Calibri" pitchFamily="34" charset="0"/>
                <a:ea typeface="Calibri" pitchFamily="34" charset="-122"/>
                <a:cs typeface="Calibri" pitchFamily="34" charset="-120"/>
              </a:rPr>
              <a:t>40.20% of total</a:t>
            </a:r>
            <a:endParaRPr lang="en-US" sz="1000" dirty="0"/>
          </a:p>
        </p:txBody>
      </p:sp>
      <p:sp>
        <p:nvSpPr>
          <p:cNvPr id="19" name="Shape 17"/>
          <p:cNvSpPr/>
          <p:nvPr/>
        </p:nvSpPr>
        <p:spPr>
          <a:xfrm>
            <a:off x="6126480" y="2788920"/>
            <a:ext cx="2743200" cy="1691640"/>
          </a:xfrm>
          <a:prstGeom prst="rect">
            <a:avLst/>
          </a:prstGeom>
          <a:solidFill>
            <a:srgbClr val="0D1B4B"/>
          </a:solidFill>
          <a:ln/>
          <a:effectLst>
            <a:outerShdw blurRad="101600" dist="38100" dir="8100000" algn="bl" rotWithShape="0">
              <a:srgbClr val="000000">
                <a:alpha val="12000"/>
              </a:srgbClr>
            </a:outerShdw>
          </a:effectLst>
        </p:spPr>
      </p:sp>
      <p:sp>
        <p:nvSpPr>
          <p:cNvPr id="20" name="Text 18"/>
          <p:cNvSpPr/>
          <p:nvPr/>
        </p:nvSpPr>
        <p:spPr>
          <a:xfrm>
            <a:off x="6236208" y="2880360"/>
            <a:ext cx="2542032"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Total</a:t>
            </a:r>
            <a:endParaRPr lang="en-US" sz="1300" dirty="0"/>
          </a:p>
        </p:txBody>
      </p:sp>
      <p:sp>
        <p:nvSpPr>
          <p:cNvPr id="21" name="Text 19"/>
          <p:cNvSpPr/>
          <p:nvPr/>
        </p:nvSpPr>
        <p:spPr>
          <a:xfrm>
            <a:off x="6236208" y="3246120"/>
            <a:ext cx="2542032"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2,98,712</a:t>
            </a:r>
            <a:endParaRPr lang="en-US" sz="2600" dirty="0"/>
          </a:p>
        </p:txBody>
      </p:sp>
      <p:sp>
        <p:nvSpPr>
          <p:cNvPr id="22" name="Text 20"/>
          <p:cNvSpPr/>
          <p:nvPr/>
        </p:nvSpPr>
        <p:spPr>
          <a:xfrm>
            <a:off x="6236208" y="3822192"/>
            <a:ext cx="2542032" cy="274320"/>
          </a:xfrm>
          <a:prstGeom prst="rect">
            <a:avLst/>
          </a:prstGeom>
          <a:noFill/>
          <a:ln/>
        </p:spPr>
        <p:txBody>
          <a:bodyPr wrap="square" lIns="0" tIns="0" rIns="0" bIns="0" rtlCol="0" anchor="ctr"/>
          <a:lstStyle/>
          <a:p>
            <a:pPr marL="0" indent="0">
              <a:buNone/>
            </a:pPr>
            <a:r>
              <a:rPr lang="en-US" sz="1000" i="1" dirty="0">
                <a:solidFill>
                  <a:srgbClr val="F7C948"/>
                </a:solidFill>
                <a:latin typeface="Calibri" pitchFamily="34" charset="0"/>
                <a:ea typeface="Calibri" pitchFamily="34" charset="-122"/>
                <a:cs typeface="Calibri" pitchFamily="34" charset="-120"/>
              </a:rPr>
              <a:t>Combined units sold</a:t>
            </a:r>
            <a:endParaRPr lang="en-US" sz="1000" dirty="0"/>
          </a:p>
        </p:txBody>
      </p:sp>
      <p:sp>
        <p:nvSpPr>
          <p:cNvPr id="23" name="Shape 21"/>
          <p:cNvSpPr/>
          <p:nvPr/>
        </p:nvSpPr>
        <p:spPr>
          <a:xfrm>
            <a:off x="274320" y="4645152"/>
            <a:ext cx="8595360" cy="256032"/>
          </a:xfrm>
          <a:prstGeom prst="rect">
            <a:avLst/>
          </a:prstGeom>
          <a:solidFill>
            <a:srgbClr val="0D1B4B">
              <a:alpha val="85000"/>
            </a:srgbClr>
          </a:solidFill>
          <a:ln/>
        </p:spPr>
      </p:sp>
      <p:sp>
        <p:nvSpPr>
          <p:cNvPr id="24" name="Text 22"/>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Female customers received 58,606 more units than Male — a 49% higher product volume.</a:t>
            </a:r>
            <a:endParaRPr lang="en-US" sz="950" dirty="0"/>
          </a:p>
        </p:txBody>
      </p:sp>
      <p:sp>
        <p:nvSpPr>
          <p:cNvPr id="25" name="Shape 23"/>
          <p:cNvSpPr/>
          <p:nvPr/>
        </p:nvSpPr>
        <p:spPr>
          <a:xfrm>
            <a:off x="0" y="4919472"/>
            <a:ext cx="9144000" cy="224028"/>
          </a:xfrm>
          <a:prstGeom prst="rect">
            <a:avLst/>
          </a:prstGeom>
          <a:solidFill>
            <a:srgbClr val="0B1230"/>
          </a:solidFill>
          <a:ln/>
        </p:spPr>
      </p:sp>
      <p:sp>
        <p:nvSpPr>
          <p:cNvPr id="26" name="Text 24"/>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4B"/>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Q3  |  Which Gender Generated More Revenue?</a:t>
            </a:r>
            <a:endParaRPr lang="en-US" sz="1900" dirty="0"/>
          </a:p>
        </p:txBody>
      </p:sp>
      <p:sp>
        <p:nvSpPr>
          <p:cNvPr id="4" name="Shape 2"/>
          <p:cNvSpPr/>
          <p:nvPr/>
        </p:nvSpPr>
        <p:spPr>
          <a:xfrm>
            <a:off x="274320" y="777240"/>
            <a:ext cx="4114800" cy="169164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127101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SUM(price * quantity) AS Revenue</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Revenue DESC;</a:t>
            </a:r>
            <a:endParaRPr lang="en-US" sz="900" dirty="0"/>
          </a:p>
        </p:txBody>
      </p:sp>
      <p:sp>
        <p:nvSpPr>
          <p:cNvPr id="8" name="Shape 6"/>
          <p:cNvSpPr/>
          <p:nvPr/>
        </p:nvSpPr>
        <p:spPr>
          <a:xfrm>
            <a:off x="4663440" y="777240"/>
            <a:ext cx="4206240" cy="169164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1691640"/>
          </a:xfrm>
          <a:prstGeom prst="rect">
            <a:avLst/>
          </a:prstGeom>
          <a:solidFill>
            <a:srgbClr val="0A7EA4"/>
          </a:solidFill>
          <a:ln/>
        </p:spPr>
      </p:sp>
      <p:sp>
        <p:nvSpPr>
          <p:cNvPr id="10" name="Text 8"/>
          <p:cNvSpPr/>
          <p:nvPr/>
        </p:nvSpPr>
        <p:spPr>
          <a:xfrm>
            <a:off x="4809744" y="886968"/>
            <a:ext cx="3950208" cy="147218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Revenue is calculated by multiplying price × quantity per transaction, then summing by gender. This reveals which customer segment contributes the most to total business revenue — critical for sales targeting and profitability analysis.</a:t>
            </a:r>
            <a:endParaRPr lang="en-US" sz="1100" dirty="0"/>
          </a:p>
        </p:txBody>
      </p:sp>
      <p:graphicFrame>
        <p:nvGraphicFramePr>
          <p:cNvPr id="11" name="Chart 0"/>
          <p:cNvGraphicFramePr/>
          <p:nvPr/>
        </p:nvGraphicFramePr>
        <p:xfrm>
          <a:off x="274320" y="2651760"/>
          <a:ext cx="502920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5577840" y="2651760"/>
            <a:ext cx="1600200" cy="1965960"/>
          </a:xfrm>
          <a:prstGeom prst="rect">
            <a:avLst/>
          </a:prstGeom>
          <a:solidFill>
            <a:srgbClr val="0A7EA4"/>
          </a:solidFill>
          <a:ln/>
          <a:effectLst>
            <a:outerShdw blurRad="101600" dist="38100" dir="8100000" algn="bl" rotWithShape="0">
              <a:srgbClr val="000000">
                <a:alpha val="12000"/>
              </a:srgbClr>
            </a:outerShdw>
          </a:effectLst>
        </p:spPr>
      </p:sp>
      <p:sp>
        <p:nvSpPr>
          <p:cNvPr id="13" name="Text 10"/>
          <p:cNvSpPr/>
          <p:nvPr/>
        </p:nvSpPr>
        <p:spPr>
          <a:xfrm>
            <a:off x="5650992" y="2761488"/>
            <a:ext cx="14630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Female</a:t>
            </a:r>
            <a:endParaRPr lang="en-US" sz="1200" dirty="0"/>
          </a:p>
        </p:txBody>
      </p:sp>
      <p:sp>
        <p:nvSpPr>
          <p:cNvPr id="14" name="Text 11"/>
          <p:cNvSpPr/>
          <p:nvPr/>
        </p:nvSpPr>
        <p:spPr>
          <a:xfrm>
            <a:off x="5650992" y="3154680"/>
            <a:ext cx="1463040" cy="45720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₺15.02 Cr</a:t>
            </a:r>
            <a:endParaRPr lang="en-US" sz="1800" dirty="0"/>
          </a:p>
        </p:txBody>
      </p:sp>
      <p:sp>
        <p:nvSpPr>
          <p:cNvPr id="15" name="Text 12"/>
          <p:cNvSpPr/>
          <p:nvPr/>
        </p:nvSpPr>
        <p:spPr>
          <a:xfrm>
            <a:off x="5650992" y="3639312"/>
            <a:ext cx="1463040" cy="274320"/>
          </a:xfrm>
          <a:prstGeom prst="rect">
            <a:avLst/>
          </a:prstGeom>
          <a:noFill/>
          <a:ln/>
        </p:spPr>
        <p:txBody>
          <a:bodyPr wrap="square" lIns="0" tIns="0" rIns="0" bIns="0" rtlCol="0" anchor="ctr"/>
          <a:lstStyle/>
          <a:p>
            <a:pPr marL="0" indent="0">
              <a:buNone/>
            </a:pPr>
            <a:r>
              <a:rPr lang="en-US" sz="1100" i="1" dirty="0">
                <a:solidFill>
                  <a:srgbClr val="F7C948"/>
                </a:solidFill>
                <a:latin typeface="Calibri" pitchFamily="34" charset="0"/>
                <a:ea typeface="Calibri" pitchFamily="34" charset="-122"/>
                <a:cs typeface="Calibri" pitchFamily="34" charset="-120"/>
              </a:rPr>
              <a:t>59.72%</a:t>
            </a:r>
            <a:endParaRPr lang="en-US" sz="1100" dirty="0"/>
          </a:p>
        </p:txBody>
      </p:sp>
      <p:sp>
        <p:nvSpPr>
          <p:cNvPr id="16" name="Shape 13"/>
          <p:cNvSpPr/>
          <p:nvPr/>
        </p:nvSpPr>
        <p:spPr>
          <a:xfrm>
            <a:off x="7315200" y="2651760"/>
            <a:ext cx="1600200" cy="1965960"/>
          </a:xfrm>
          <a:prstGeom prst="rect">
            <a:avLst/>
          </a:prstGeom>
          <a:solidFill>
            <a:srgbClr val="1E3A5F"/>
          </a:solidFill>
          <a:ln/>
          <a:effectLst>
            <a:outerShdw blurRad="101600" dist="38100" dir="8100000" algn="bl" rotWithShape="0">
              <a:srgbClr val="000000">
                <a:alpha val="12000"/>
              </a:srgbClr>
            </a:outerShdw>
          </a:effectLst>
        </p:spPr>
      </p:sp>
      <p:sp>
        <p:nvSpPr>
          <p:cNvPr id="17" name="Text 14"/>
          <p:cNvSpPr/>
          <p:nvPr/>
        </p:nvSpPr>
        <p:spPr>
          <a:xfrm>
            <a:off x="7388352" y="2761488"/>
            <a:ext cx="14630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Male</a:t>
            </a:r>
            <a:endParaRPr lang="en-US" sz="1200" dirty="0"/>
          </a:p>
        </p:txBody>
      </p:sp>
      <p:sp>
        <p:nvSpPr>
          <p:cNvPr id="18" name="Text 15"/>
          <p:cNvSpPr/>
          <p:nvPr/>
        </p:nvSpPr>
        <p:spPr>
          <a:xfrm>
            <a:off x="7388352" y="3154680"/>
            <a:ext cx="1463040" cy="45720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₺10.13 Cr</a:t>
            </a:r>
            <a:endParaRPr lang="en-US" sz="1800" dirty="0"/>
          </a:p>
        </p:txBody>
      </p:sp>
      <p:sp>
        <p:nvSpPr>
          <p:cNvPr id="19" name="Text 16"/>
          <p:cNvSpPr/>
          <p:nvPr/>
        </p:nvSpPr>
        <p:spPr>
          <a:xfrm>
            <a:off x="7388352" y="3639312"/>
            <a:ext cx="1463040" cy="274320"/>
          </a:xfrm>
          <a:prstGeom prst="rect">
            <a:avLst/>
          </a:prstGeom>
          <a:noFill/>
          <a:ln/>
        </p:spPr>
        <p:txBody>
          <a:bodyPr wrap="square" lIns="0" tIns="0" rIns="0" bIns="0" rtlCol="0" anchor="ctr"/>
          <a:lstStyle/>
          <a:p>
            <a:pPr marL="0" indent="0">
              <a:buNone/>
            </a:pPr>
            <a:r>
              <a:rPr lang="en-US" sz="1100" i="1" dirty="0">
                <a:solidFill>
                  <a:srgbClr val="F7C948"/>
                </a:solidFill>
                <a:latin typeface="Calibri" pitchFamily="34" charset="0"/>
                <a:ea typeface="Calibri" pitchFamily="34" charset="-122"/>
                <a:cs typeface="Calibri" pitchFamily="34" charset="-120"/>
              </a:rPr>
              <a:t>40.28%</a:t>
            </a:r>
            <a:endParaRPr lang="en-US" sz="1100" dirty="0"/>
          </a:p>
        </p:txBody>
      </p:sp>
      <p:sp>
        <p:nvSpPr>
          <p:cNvPr id="20" name="Shape 17"/>
          <p:cNvSpPr/>
          <p:nvPr/>
        </p:nvSpPr>
        <p:spPr>
          <a:xfrm>
            <a:off x="274320" y="4645152"/>
            <a:ext cx="8595360" cy="256032"/>
          </a:xfrm>
          <a:prstGeom prst="rect">
            <a:avLst/>
          </a:prstGeom>
          <a:solidFill>
            <a:srgbClr val="0D1B4B">
              <a:alpha val="85000"/>
            </a:srgbClr>
          </a:solidFill>
          <a:ln/>
        </p:spPr>
      </p:sp>
      <p:sp>
        <p:nvSpPr>
          <p:cNvPr id="21" name="Text 18"/>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Female customers generated ₺4.89 Cr more revenue than Male — a 48% higher contribution.</a:t>
            </a:r>
            <a:endParaRPr lang="en-US" sz="950" dirty="0"/>
          </a:p>
        </p:txBody>
      </p:sp>
      <p:sp>
        <p:nvSpPr>
          <p:cNvPr id="22" name="Shape 19"/>
          <p:cNvSpPr/>
          <p:nvPr/>
        </p:nvSpPr>
        <p:spPr>
          <a:xfrm>
            <a:off x="0" y="4919472"/>
            <a:ext cx="9144000" cy="224028"/>
          </a:xfrm>
          <a:prstGeom prst="rect">
            <a:avLst/>
          </a:prstGeom>
          <a:solidFill>
            <a:srgbClr val="0B1230"/>
          </a:solidFill>
          <a:ln/>
        </p:spPr>
      </p:sp>
      <p:sp>
        <p:nvSpPr>
          <p:cNvPr id="23" name="Text 20"/>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7EA4"/>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Q4 &amp; Q8 |  Distribution of Purchase Categories Relative to Gender</a:t>
            </a:r>
            <a:endParaRPr lang="en-US" sz="1900" dirty="0"/>
          </a:p>
        </p:txBody>
      </p:sp>
      <p:sp>
        <p:nvSpPr>
          <p:cNvPr id="4" name="Shape 2"/>
          <p:cNvSpPr/>
          <p:nvPr/>
        </p:nvSpPr>
        <p:spPr>
          <a:xfrm>
            <a:off x="274320" y="777240"/>
            <a:ext cx="4114800" cy="192024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149961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 category,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COUNT(customer_id) AS Total_Order,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SUM(price * quantity) AS Revenue_Generated</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category, gender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Revenue_Generated DESC;</a:t>
            </a:r>
            <a:endParaRPr lang="en-US" sz="900" dirty="0"/>
          </a:p>
        </p:txBody>
      </p:sp>
      <p:sp>
        <p:nvSpPr>
          <p:cNvPr id="8" name="Shape 6"/>
          <p:cNvSpPr/>
          <p:nvPr/>
        </p:nvSpPr>
        <p:spPr>
          <a:xfrm>
            <a:off x="4663440" y="777240"/>
            <a:ext cx="4206240" cy="192024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1920240"/>
          </a:xfrm>
          <a:prstGeom prst="rect">
            <a:avLst/>
          </a:prstGeom>
          <a:solidFill>
            <a:srgbClr val="0A7EA4"/>
          </a:solidFill>
          <a:ln/>
        </p:spPr>
      </p:sp>
      <p:sp>
        <p:nvSpPr>
          <p:cNvPr id="10" name="Text 8"/>
          <p:cNvSpPr/>
          <p:nvPr/>
        </p:nvSpPr>
        <p:spPr>
          <a:xfrm>
            <a:off x="4809744" y="886968"/>
            <a:ext cx="3950208" cy="170078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This query breaks down orders and revenue by both category and gender simultaneously. Using GROUP BY on two columns reveals which product categories each gender prefers — enabling category-level marketing decisions and gender-focused inventory prioritization.</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3622953312"/>
              </p:ext>
            </p:extLst>
          </p:nvPr>
        </p:nvGraphicFramePr>
        <p:xfrm>
          <a:off x="274320" y="2852928"/>
          <a:ext cx="8595360" cy="1600200"/>
        </p:xfrm>
        <a:graphic>
          <a:graphicData uri="http://schemas.openxmlformats.org/drawingml/2006/table">
            <a:tbl>
              <a:tblPr/>
              <a:tblGrid>
                <a:gridCol w="2148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2004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D1B4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Gender</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D1B4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Total Orders</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D1B4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Revenue (TRY)</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D1B4B"/>
                    </a:solidFill>
                  </a:tcPr>
                </a:tc>
                <a:extLst>
                  <a:ext uri="{0D108BD9-81ED-4DB2-BD59-A6C34878D82A}">
                    <a16:rowId xmlns:a16="http://schemas.microsoft.com/office/drawing/2014/main" val="10000"/>
                  </a:ext>
                </a:extLst>
              </a:tr>
              <a:tr h="32004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Clothing</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Female</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20,652</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₺6.825 Cr</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extLst>
                  <a:ext uri="{0D108BD9-81ED-4DB2-BD59-A6C34878D82A}">
                    <a16:rowId xmlns:a16="http://schemas.microsoft.com/office/drawing/2014/main" val="10001"/>
                  </a:ext>
                </a:extLst>
              </a:tr>
              <a:tr h="32004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Clothing</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Male</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13,835</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₺4.574 Cr</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2"/>
                  </a:ext>
                </a:extLst>
              </a:tr>
              <a:tr h="32004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Shoes</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Female</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5,967</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₺3.94 Cr</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Shoes</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Male</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4,067</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₺2.7 Cr</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4"/>
                  </a:ext>
                </a:extLst>
              </a:tr>
            </a:tbl>
          </a:graphicData>
        </a:graphic>
      </p:graphicFrame>
      <p:sp>
        <p:nvSpPr>
          <p:cNvPr id="12" name="Shape 9"/>
          <p:cNvSpPr/>
          <p:nvPr/>
        </p:nvSpPr>
        <p:spPr>
          <a:xfrm>
            <a:off x="274320" y="4645152"/>
            <a:ext cx="8595360" cy="256032"/>
          </a:xfrm>
          <a:prstGeom prst="rect">
            <a:avLst/>
          </a:prstGeom>
          <a:solidFill>
            <a:srgbClr val="0D1B4B">
              <a:alpha val="85000"/>
            </a:srgbClr>
          </a:solidFill>
          <a:ln/>
        </p:spPr>
      </p:sp>
      <p:sp>
        <p:nvSpPr>
          <p:cNvPr id="13" name="Text 10"/>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Clothing is the highest revenue category for both genders. Female Clothing alone contributes ₺6.83 Cr.</a:t>
            </a:r>
            <a:endParaRPr lang="en-US" sz="950" dirty="0"/>
          </a:p>
        </p:txBody>
      </p:sp>
      <p:sp>
        <p:nvSpPr>
          <p:cNvPr id="14" name="Shape 11"/>
          <p:cNvSpPr/>
          <p:nvPr/>
        </p:nvSpPr>
        <p:spPr>
          <a:xfrm>
            <a:off x="0" y="4919472"/>
            <a:ext cx="9144000" cy="224028"/>
          </a:xfrm>
          <a:prstGeom prst="rect">
            <a:avLst/>
          </a:prstGeom>
          <a:solidFill>
            <a:srgbClr val="0B1230"/>
          </a:solidFill>
          <a:ln/>
        </p:spPr>
      </p:sp>
      <p:sp>
        <p:nvSpPr>
          <p:cNvPr id="15" name="Text 12"/>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4B"/>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Q5  |  How Is the Shopping Distribution According to Age?</a:t>
            </a:r>
            <a:endParaRPr lang="en-US" sz="1900" dirty="0"/>
          </a:p>
        </p:txBody>
      </p:sp>
      <p:sp>
        <p:nvSpPr>
          <p:cNvPr id="4" name="Shape 2"/>
          <p:cNvSpPr/>
          <p:nvPr/>
        </p:nvSpPr>
        <p:spPr>
          <a:xfrm>
            <a:off x="274320" y="777240"/>
            <a:ext cx="4114800" cy="320040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277977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(CASE</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BETWEEN 18 AND 25 THEN '18-25'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BETWEEN 26 AND 35 THEN '26-35'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BETWEEN 36 AND 45 THEN '36-45'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BETWEEN 46 AND 55 THEN '46-55'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BETWEEN 56 AND 65 THEN '56-65'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&gt; 65 THEN '65+'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END) AS Age_Cat,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COUNT(invoice_no) AS Total_Orders,</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(COUNT(invoice_no)/(SELECT COUNT(*) FROM customer))*100</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AS Percentage</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Age_Cat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Total_Orders DESC;</a:t>
            </a:r>
            <a:endParaRPr lang="en-US" sz="900" dirty="0"/>
          </a:p>
        </p:txBody>
      </p:sp>
      <p:sp>
        <p:nvSpPr>
          <p:cNvPr id="8" name="Shape 6"/>
          <p:cNvSpPr/>
          <p:nvPr/>
        </p:nvSpPr>
        <p:spPr>
          <a:xfrm>
            <a:off x="4663440" y="777240"/>
            <a:ext cx="4206240" cy="192024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1920240"/>
          </a:xfrm>
          <a:prstGeom prst="rect">
            <a:avLst/>
          </a:prstGeom>
          <a:solidFill>
            <a:srgbClr val="0A7EA4"/>
          </a:solidFill>
          <a:ln/>
        </p:spPr>
      </p:sp>
      <p:sp>
        <p:nvSpPr>
          <p:cNvPr id="10" name="Text 8"/>
          <p:cNvSpPr/>
          <p:nvPr/>
        </p:nvSpPr>
        <p:spPr>
          <a:xfrm>
            <a:off x="4809744" y="886968"/>
            <a:ext cx="3950208" cy="170078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A CASE statement is used to group continuous age values into meaningful business segments (buckets). This technique avoids the need for a separate age-cat column in the database. The nested subquery computes percentage share of orders per age cat, enabling demographic-level shopping behavior analysis.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3644557666"/>
              </p:ext>
            </p:extLst>
          </p:nvPr>
        </p:nvGraphicFramePr>
        <p:xfrm>
          <a:off x="4663440" y="2715769"/>
          <a:ext cx="4206240" cy="1947673"/>
        </p:xfrm>
        <a:graphic>
          <a:graphicData uri="http://schemas.openxmlformats.org/drawingml/2006/table">
            <a:tbl>
              <a:tblPr/>
              <a:tblGrid>
                <a:gridCol w="1399032">
                  <a:extLst>
                    <a:ext uri="{9D8B030D-6E8A-4147-A177-3AD203B41FA5}">
                      <a16:colId xmlns:a16="http://schemas.microsoft.com/office/drawing/2014/main" val="20000"/>
                    </a:ext>
                  </a:extLst>
                </a:gridCol>
                <a:gridCol w="1399032">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tblGrid>
              <a:tr h="278239">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Age Cat</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Total Orders</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extLst>
                  <a:ext uri="{0D108BD9-81ED-4DB2-BD59-A6C34878D82A}">
                    <a16:rowId xmlns:a16="http://schemas.microsoft.com/office/drawing/2014/main" val="10000"/>
                  </a:ext>
                </a:extLst>
              </a:tr>
              <a:tr h="278239">
                <a:tc>
                  <a:txBody>
                    <a:bodyPr/>
                    <a:lstStyle/>
                    <a:p>
                      <a:pPr marL="0" indent="0" algn="ctr">
                        <a:buNone/>
                      </a:pPr>
                      <a:r>
                        <a:rPr lang="en-US" sz="1100" dirty="0">
                          <a:solidFill>
                            <a:srgbClr val="0A7EA4"/>
                          </a:solidFill>
                          <a:latin typeface="Calibri" pitchFamily="34" charset="0"/>
                          <a:ea typeface="Calibri" pitchFamily="34" charset="-122"/>
                          <a:cs typeface="Calibri" pitchFamily="34" charset="-120"/>
                        </a:rPr>
                        <a:t>36–45</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19,436</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b="1" dirty="0">
                          <a:solidFill>
                            <a:srgbClr val="0D1B4B"/>
                          </a:solidFill>
                          <a:latin typeface="Calibri" pitchFamily="34" charset="0"/>
                          <a:ea typeface="Calibri" pitchFamily="34" charset="-122"/>
                          <a:cs typeface="Calibri" pitchFamily="34" charset="-120"/>
                        </a:rPr>
                        <a:t>19.54%</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1"/>
                  </a:ext>
                </a:extLst>
              </a:tr>
              <a:tr h="278239">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26–35</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19,059</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1B4B"/>
                          </a:solidFill>
                          <a:latin typeface="Calibri" pitchFamily="34" charset="0"/>
                          <a:ea typeface="Calibri" pitchFamily="34" charset="-122"/>
                          <a:cs typeface="Calibri" pitchFamily="34" charset="-120"/>
                        </a:rPr>
                        <a:t>19.16%</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8239">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46–55</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19,016</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b="1" dirty="0">
                          <a:solidFill>
                            <a:srgbClr val="0D1B4B"/>
                          </a:solidFill>
                          <a:latin typeface="Calibri" pitchFamily="34" charset="0"/>
                          <a:ea typeface="Calibri" pitchFamily="34" charset="-122"/>
                          <a:cs typeface="Calibri" pitchFamily="34" charset="-120"/>
                        </a:rPr>
                        <a:t>19.12%</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3"/>
                  </a:ext>
                </a:extLst>
              </a:tr>
              <a:tr h="278239">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56–65</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19,016</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1B4B"/>
                          </a:solidFill>
                          <a:latin typeface="Calibri" pitchFamily="34" charset="0"/>
                          <a:ea typeface="Calibri" pitchFamily="34" charset="-122"/>
                          <a:cs typeface="Calibri" pitchFamily="34" charset="-120"/>
                        </a:rPr>
                        <a:t>19.12%</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8239">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18–25</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15,359</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100" b="1" dirty="0">
                          <a:solidFill>
                            <a:srgbClr val="0D1B4B"/>
                          </a:solidFill>
                          <a:latin typeface="Calibri" pitchFamily="34" charset="0"/>
                          <a:ea typeface="Calibri" pitchFamily="34" charset="-122"/>
                          <a:cs typeface="Calibri" pitchFamily="34" charset="-120"/>
                        </a:rPr>
                        <a:t>15.44%</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5"/>
                  </a:ext>
                </a:extLst>
              </a:tr>
              <a:tr h="278239">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B4B"/>
                          </a:solidFill>
                          <a:latin typeface="Calibri" pitchFamily="34" charset="0"/>
                          <a:ea typeface="Calibri" pitchFamily="34" charset="-122"/>
                          <a:cs typeface="Calibri" pitchFamily="34" charset="-120"/>
                        </a:rPr>
                        <a:t>7,571</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1B4B"/>
                          </a:solidFill>
                          <a:latin typeface="Calibri" pitchFamily="34" charset="0"/>
                          <a:ea typeface="Calibri" pitchFamily="34" charset="-122"/>
                          <a:cs typeface="Calibri" pitchFamily="34" charset="-120"/>
                        </a:rPr>
                        <a:t>7.61%</a:t>
                      </a:r>
                      <a:endParaRPr lang="en-US" sz="11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Shape 9"/>
          <p:cNvSpPr/>
          <p:nvPr/>
        </p:nvSpPr>
        <p:spPr>
          <a:xfrm>
            <a:off x="274320" y="4645152"/>
            <a:ext cx="8595360" cy="256032"/>
          </a:xfrm>
          <a:prstGeom prst="rect">
            <a:avLst/>
          </a:prstGeom>
          <a:solidFill>
            <a:srgbClr val="0D1B4B">
              <a:alpha val="85000"/>
            </a:srgbClr>
          </a:solidFill>
          <a:ln/>
        </p:spPr>
      </p:sp>
      <p:sp>
        <p:nvSpPr>
          <p:cNvPr id="13" name="Text 10"/>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The 36–45 age group is the most active shoppers (19.54%). The 65+ group is least active at 7.61%.</a:t>
            </a:r>
            <a:endParaRPr lang="en-US" sz="950" dirty="0"/>
          </a:p>
        </p:txBody>
      </p:sp>
      <p:sp>
        <p:nvSpPr>
          <p:cNvPr id="14" name="Shape 11"/>
          <p:cNvSpPr/>
          <p:nvPr/>
        </p:nvSpPr>
        <p:spPr>
          <a:xfrm>
            <a:off x="0" y="4919472"/>
            <a:ext cx="9144000" cy="224028"/>
          </a:xfrm>
          <a:prstGeom prst="rect">
            <a:avLst/>
          </a:prstGeom>
          <a:solidFill>
            <a:srgbClr val="0B1230"/>
          </a:solidFill>
          <a:ln/>
        </p:spPr>
      </p:sp>
      <p:sp>
        <p:nvSpPr>
          <p:cNvPr id="15" name="Text 12"/>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7EA4"/>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Q6  |  Which Age Category Did We Sell More Products To?</a:t>
            </a:r>
            <a:endParaRPr lang="en-US" sz="1900" dirty="0"/>
          </a:p>
        </p:txBody>
      </p:sp>
      <p:sp>
        <p:nvSpPr>
          <p:cNvPr id="4" name="Shape 2"/>
          <p:cNvSpPr/>
          <p:nvPr/>
        </p:nvSpPr>
        <p:spPr>
          <a:xfrm>
            <a:off x="274320" y="777240"/>
            <a:ext cx="4114800" cy="228600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186537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(CASE</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BETWEEN 18 AND 25 THEN '18-25'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...same CASE logic...</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&gt; 65 THEN '65+'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END) AS Age_Cat,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SUM(quantity) AS Total_Products_Sell,</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(SUM(quantity)/(SELECT SUM(quantity) FROM customer))*100</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AS Percentage</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Age_Cat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Total_Products_Sell DESC;</a:t>
            </a:r>
            <a:endParaRPr lang="en-US" sz="900" dirty="0"/>
          </a:p>
        </p:txBody>
      </p:sp>
      <p:sp>
        <p:nvSpPr>
          <p:cNvPr id="8" name="Shape 6"/>
          <p:cNvSpPr/>
          <p:nvPr/>
        </p:nvSpPr>
        <p:spPr>
          <a:xfrm>
            <a:off x="4663440" y="777240"/>
            <a:ext cx="4206240" cy="228600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2286000"/>
          </a:xfrm>
          <a:prstGeom prst="rect">
            <a:avLst/>
          </a:prstGeom>
          <a:solidFill>
            <a:srgbClr val="0A7EA4"/>
          </a:solidFill>
          <a:ln/>
        </p:spPr>
      </p:sp>
      <p:sp>
        <p:nvSpPr>
          <p:cNvPr id="10" name="Text 8"/>
          <p:cNvSpPr/>
          <p:nvPr/>
        </p:nvSpPr>
        <p:spPr>
          <a:xfrm>
            <a:off x="4809744" y="886968"/>
            <a:ext cx="3950208" cy="206654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Similar to Q5, but here we aggregate product quantities using SUM(quantity) instead of order counts. The percentage is computed against the total quantity sold across all customers. This tells us which age groups consume the most product volume — useful for demand forecasting.</a:t>
            </a:r>
            <a:endParaRPr lang="en-US" sz="1100" dirty="0"/>
          </a:p>
        </p:txBody>
      </p:sp>
      <p:graphicFrame>
        <p:nvGraphicFramePr>
          <p:cNvPr id="11" name="Chart 0"/>
          <p:cNvGraphicFramePr/>
          <p:nvPr>
            <p:extLst>
              <p:ext uri="{D42A27DB-BD31-4B8C-83A1-F6EECF244321}">
                <p14:modId xmlns:p14="http://schemas.microsoft.com/office/powerpoint/2010/main" val="3677353432"/>
              </p:ext>
            </p:extLst>
          </p:nvPr>
        </p:nvGraphicFramePr>
        <p:xfrm>
          <a:off x="274320" y="3044952"/>
          <a:ext cx="8595360" cy="1572768"/>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274320" y="4645152"/>
            <a:ext cx="8595360" cy="256032"/>
          </a:xfrm>
          <a:prstGeom prst="rect">
            <a:avLst/>
          </a:prstGeom>
          <a:solidFill>
            <a:srgbClr val="0D1B4B">
              <a:alpha val="85000"/>
            </a:srgbClr>
          </a:solidFill>
          <a:ln/>
        </p:spPr>
      </p:sp>
      <p:sp>
        <p:nvSpPr>
          <p:cNvPr id="13" name="Text 10"/>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36–45 age group leads product purchases (58,483 units / 19.58%). The 65+ group lags significantly at 22,785 units.</a:t>
            </a:r>
            <a:endParaRPr lang="en-US" sz="950" dirty="0"/>
          </a:p>
        </p:txBody>
      </p:sp>
      <p:sp>
        <p:nvSpPr>
          <p:cNvPr id="14" name="Shape 11"/>
          <p:cNvSpPr/>
          <p:nvPr/>
        </p:nvSpPr>
        <p:spPr>
          <a:xfrm>
            <a:off x="0" y="4919472"/>
            <a:ext cx="9144000" cy="224028"/>
          </a:xfrm>
          <a:prstGeom prst="rect">
            <a:avLst/>
          </a:prstGeom>
          <a:solidFill>
            <a:srgbClr val="0B1230"/>
          </a:solidFill>
          <a:ln/>
        </p:spPr>
      </p:sp>
      <p:sp>
        <p:nvSpPr>
          <p:cNvPr id="15" name="Text 12"/>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4B"/>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Q7  |  Which Age Category Generated More Revenue?</a:t>
            </a:r>
            <a:endParaRPr lang="en-US" sz="1900" dirty="0"/>
          </a:p>
        </p:txBody>
      </p:sp>
      <p:sp>
        <p:nvSpPr>
          <p:cNvPr id="4" name="Shape 2"/>
          <p:cNvSpPr/>
          <p:nvPr/>
        </p:nvSpPr>
        <p:spPr>
          <a:xfrm>
            <a:off x="274320" y="777240"/>
            <a:ext cx="4114800" cy="233172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191109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(CASE WHEN age BETWEEN 18 AND 25 THEN '18-25'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...WHEN age &gt; 65 THEN '65+'</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END) AS Age_Cat,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SUM(price * quantity) AS Revenue_Generated,</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(SUM(price*quantity) /</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(SELECT SUM(price*quantity) FROM customer))*100</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AS Percentage_of_Total_Revenue</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Age_Cat</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Revenue_Generated DESC;</a:t>
            </a:r>
            <a:endParaRPr lang="en-US" sz="900" dirty="0"/>
          </a:p>
        </p:txBody>
      </p:sp>
      <p:sp>
        <p:nvSpPr>
          <p:cNvPr id="8" name="Shape 6"/>
          <p:cNvSpPr/>
          <p:nvPr/>
        </p:nvSpPr>
        <p:spPr>
          <a:xfrm>
            <a:off x="4663440" y="777240"/>
            <a:ext cx="4206240" cy="233172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2331720"/>
          </a:xfrm>
          <a:prstGeom prst="rect">
            <a:avLst/>
          </a:prstGeom>
          <a:solidFill>
            <a:srgbClr val="0A7EA4"/>
          </a:solidFill>
          <a:ln/>
        </p:spPr>
      </p:sp>
      <p:sp>
        <p:nvSpPr>
          <p:cNvPr id="10" name="Text 8"/>
          <p:cNvSpPr/>
          <p:nvPr/>
        </p:nvSpPr>
        <p:spPr>
          <a:xfrm>
            <a:off x="4809744" y="886968"/>
            <a:ext cx="3950208" cy="211226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Revenue is calculated as price × quantity, then summed per age group. The percentage of total revenue is derived using a nested subquery on the full dataset. This is key for understanding which demographics contribute most to the bottom line and where to focus high-value marketing.</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75593293"/>
              </p:ext>
            </p:extLst>
          </p:nvPr>
        </p:nvGraphicFramePr>
        <p:xfrm>
          <a:off x="274320" y="2916940"/>
          <a:ext cx="8595360" cy="2013081"/>
        </p:xfrm>
        <a:graphic>
          <a:graphicData uri="http://schemas.openxmlformats.org/drawingml/2006/table">
            <a:tbl>
              <a:tblPr/>
              <a:tblGrid>
                <a:gridCol w="2862072">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gridCol w="2871216">
                  <a:extLst>
                    <a:ext uri="{9D8B030D-6E8A-4147-A177-3AD203B41FA5}">
                      <a16:colId xmlns:a16="http://schemas.microsoft.com/office/drawing/2014/main" val="20002"/>
                    </a:ext>
                  </a:extLst>
                </a:gridCol>
              </a:tblGrid>
              <a:tr h="287583">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Age Cat</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D1B4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Revenue (TRY)</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D1B4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 of Total</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D1B4B"/>
                    </a:solidFill>
                  </a:tcPr>
                </a:tc>
                <a:extLst>
                  <a:ext uri="{0D108BD9-81ED-4DB2-BD59-A6C34878D82A}">
                    <a16:rowId xmlns:a16="http://schemas.microsoft.com/office/drawing/2014/main" val="10000"/>
                  </a:ext>
                </a:extLst>
              </a:tr>
              <a:tr h="287583">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36–45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₺5.02 Cr</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19.95%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A7EA4"/>
                    </a:solidFill>
                  </a:tcPr>
                </a:tc>
                <a:extLst>
                  <a:ext uri="{0D108BD9-81ED-4DB2-BD59-A6C34878D82A}">
                    <a16:rowId xmlns:a16="http://schemas.microsoft.com/office/drawing/2014/main" val="10001"/>
                  </a:ext>
                </a:extLst>
              </a:tr>
              <a:tr h="287583">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26–35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₺4.82 Cr</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D1B4B"/>
                          </a:solidFill>
                          <a:latin typeface="Calibri" pitchFamily="34" charset="0"/>
                          <a:ea typeface="Calibri" pitchFamily="34" charset="-122"/>
                          <a:cs typeface="Calibri" pitchFamily="34" charset="-120"/>
                        </a:rPr>
                        <a:t>19.17%</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7583">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46–55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₺4.79 Cr</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200" b="1" dirty="0">
                          <a:solidFill>
                            <a:srgbClr val="0D1B4B"/>
                          </a:solidFill>
                          <a:latin typeface="Calibri" pitchFamily="34" charset="0"/>
                          <a:ea typeface="Calibri" pitchFamily="34" charset="-122"/>
                          <a:cs typeface="Calibri" pitchFamily="34" charset="-120"/>
                        </a:rPr>
                        <a:t>19.04%</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3"/>
                  </a:ext>
                </a:extLst>
              </a:tr>
              <a:tr h="287583">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56–65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₺4.79 Cr</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D1B4B"/>
                          </a:solidFill>
                          <a:latin typeface="Calibri" pitchFamily="34" charset="0"/>
                          <a:ea typeface="Calibri" pitchFamily="34" charset="-122"/>
                          <a:cs typeface="Calibri" pitchFamily="34" charset="-120"/>
                        </a:rPr>
                        <a:t>19.04%</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7583">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18–25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₺3.81 Cr</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tc>
                  <a:txBody>
                    <a:bodyPr/>
                    <a:lstStyle/>
                    <a:p>
                      <a:pPr marL="0" indent="0" algn="ctr">
                        <a:buNone/>
                      </a:pPr>
                      <a:r>
                        <a:rPr lang="en-US" sz="1200" b="1" dirty="0">
                          <a:solidFill>
                            <a:srgbClr val="0D1B4B"/>
                          </a:solidFill>
                          <a:latin typeface="Calibri" pitchFamily="34" charset="0"/>
                          <a:ea typeface="Calibri" pitchFamily="34" charset="-122"/>
                          <a:cs typeface="Calibri" pitchFamily="34" charset="-120"/>
                        </a:rPr>
                        <a:t>15.16%</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EAF4FB"/>
                    </a:solidFill>
                  </a:tcPr>
                </a:tc>
                <a:extLst>
                  <a:ext uri="{0D108BD9-81ED-4DB2-BD59-A6C34878D82A}">
                    <a16:rowId xmlns:a16="http://schemas.microsoft.com/office/drawing/2014/main" val="10005"/>
                  </a:ext>
                </a:extLst>
              </a:tr>
              <a:tr h="287583">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65+</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D1B4B"/>
                          </a:solidFill>
                          <a:latin typeface="Calibri" pitchFamily="34" charset="0"/>
                          <a:ea typeface="Calibri" pitchFamily="34" charset="-122"/>
                          <a:cs typeface="Calibri" pitchFamily="34" charset="-120"/>
                        </a:rPr>
                        <a:t>₺1.92 Cr</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D1B4B"/>
                          </a:solidFill>
                          <a:latin typeface="Calibri" pitchFamily="34" charset="0"/>
                          <a:ea typeface="Calibri" pitchFamily="34" charset="-122"/>
                          <a:cs typeface="Calibri" pitchFamily="34" charset="-120"/>
                        </a:rPr>
                        <a:t>7.64%</a:t>
                      </a:r>
                      <a:endParaRPr lang="en-US" sz="120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4" name="Shape 11"/>
          <p:cNvSpPr/>
          <p:nvPr/>
        </p:nvSpPr>
        <p:spPr>
          <a:xfrm>
            <a:off x="18288" y="4921762"/>
            <a:ext cx="9144000" cy="224028"/>
          </a:xfrm>
          <a:prstGeom prst="rect">
            <a:avLst/>
          </a:prstGeom>
          <a:solidFill>
            <a:srgbClr val="0B1230"/>
          </a:solidFill>
          <a:ln/>
        </p:spPr>
      </p:sp>
      <p:sp>
        <p:nvSpPr>
          <p:cNvPr id="13" name="Text 10"/>
          <p:cNvSpPr/>
          <p:nvPr/>
        </p:nvSpPr>
        <p:spPr>
          <a:xfrm>
            <a:off x="274320" y="4924044"/>
            <a:ext cx="8412480" cy="219456"/>
          </a:xfrm>
          <a:prstGeom prst="rect">
            <a:avLst/>
          </a:prstGeom>
          <a:noFill/>
          <a:ln/>
        </p:spPr>
        <p:txBody>
          <a:bodyPr wrap="square" lIns="0" tIns="0" rIns="0" bIns="0" rtlCol="0" anchor="ctr"/>
          <a:lstStyle/>
          <a:p>
            <a:pPr marL="0" indent="0">
              <a:buNone/>
            </a:pPr>
            <a:r>
              <a:rPr lang="en-US" sz="950" i="1" dirty="0">
                <a:solidFill>
                  <a:schemeClr val="accent1">
                    <a:lumMod val="40000"/>
                    <a:lumOff val="60000"/>
                  </a:schemeClr>
                </a:solidFill>
                <a:latin typeface="Calibri" pitchFamily="34" charset="0"/>
                <a:ea typeface="Calibri" pitchFamily="34" charset="-122"/>
                <a:cs typeface="Calibri" pitchFamily="34" charset="-120"/>
              </a:rPr>
              <a:t>💡 36–45 contributes 19.95% of total revenue (₺5.02 Cr). The top 4 age groups together account for ~77% of all revenue.</a:t>
            </a:r>
            <a:endParaRPr lang="en-US" sz="950" dirty="0">
              <a:solidFill>
                <a:schemeClr val="accent1">
                  <a:lumMod val="40000"/>
                  <a:lumOff val="6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7EA4"/>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Q9  |  Does the Payment Method Have a Relation with Other Columns?</a:t>
            </a:r>
            <a:endParaRPr lang="en-US" sz="1900" dirty="0"/>
          </a:p>
        </p:txBody>
      </p:sp>
      <p:sp>
        <p:nvSpPr>
          <p:cNvPr id="4" name="Shape 2"/>
          <p:cNvSpPr/>
          <p:nvPr/>
        </p:nvSpPr>
        <p:spPr>
          <a:xfrm>
            <a:off x="228600" y="777240"/>
            <a:ext cx="2788920" cy="292608"/>
          </a:xfrm>
          <a:prstGeom prst="rect">
            <a:avLst/>
          </a:prstGeom>
          <a:solidFill>
            <a:srgbClr val="0A7EA4"/>
          </a:solidFill>
          <a:ln/>
        </p:spPr>
      </p:sp>
      <p:sp>
        <p:nvSpPr>
          <p:cNvPr id="5" name="Text 3"/>
          <p:cNvSpPr/>
          <p:nvPr/>
        </p:nvSpPr>
        <p:spPr>
          <a:xfrm>
            <a:off x="301752" y="804672"/>
            <a:ext cx="2651760"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9.1 — Total Usage per Method</a:t>
            </a:r>
            <a:endParaRPr lang="en-US" sz="850" dirty="0"/>
          </a:p>
        </p:txBody>
      </p:sp>
      <p:sp>
        <p:nvSpPr>
          <p:cNvPr id="6" name="Shape 4"/>
          <p:cNvSpPr/>
          <p:nvPr/>
        </p:nvSpPr>
        <p:spPr>
          <a:xfrm>
            <a:off x="228600" y="1069848"/>
            <a:ext cx="2788920" cy="1417320"/>
          </a:xfrm>
          <a:prstGeom prst="rect">
            <a:avLst/>
          </a:prstGeom>
          <a:solidFill>
            <a:srgbClr val="0D1F33"/>
          </a:solidFill>
          <a:ln/>
        </p:spPr>
      </p:sp>
      <p:sp>
        <p:nvSpPr>
          <p:cNvPr id="7" name="Text 5"/>
          <p:cNvSpPr/>
          <p:nvPr/>
        </p:nvSpPr>
        <p:spPr>
          <a:xfrm>
            <a:off x="301752" y="1115568"/>
            <a:ext cx="2651760" cy="1325880"/>
          </a:xfrm>
          <a:prstGeom prst="rect">
            <a:avLst/>
          </a:prstGeom>
          <a:noFill/>
          <a:ln/>
        </p:spPr>
        <p:txBody>
          <a:bodyPr wrap="square" lIns="0" tIns="0" rIns="0" bIns="0" rtlCol="0" anchor="ctr"/>
          <a:lstStyle/>
          <a:p>
            <a:pPr marL="0" indent="0">
              <a:buNone/>
            </a:pPr>
            <a:r>
              <a:rPr lang="en-US" sz="800" dirty="0">
                <a:solidFill>
                  <a:srgbClr val="90E0EF"/>
                </a:solidFill>
                <a:latin typeface="Consolas" pitchFamily="34" charset="0"/>
                <a:ea typeface="Consolas" pitchFamily="34" charset="-122"/>
                <a:cs typeface="Consolas" pitchFamily="34" charset="-120"/>
              </a:rPr>
              <a:t>SELECT payment_method,</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  COUNT(payment_method) AS Total_Use_of_Method</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FROM customer</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GROUP BY payment_method</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ORDER BY Total_Use_of_Method DESC;</a:t>
            </a:r>
            <a:endParaRPr lang="en-US" sz="800" dirty="0"/>
          </a:p>
        </p:txBody>
      </p:sp>
      <p:sp>
        <p:nvSpPr>
          <p:cNvPr id="8" name="Shape 6"/>
          <p:cNvSpPr/>
          <p:nvPr/>
        </p:nvSpPr>
        <p:spPr>
          <a:xfrm>
            <a:off x="3154680" y="777240"/>
            <a:ext cx="2788920" cy="292608"/>
          </a:xfrm>
          <a:prstGeom prst="rect">
            <a:avLst/>
          </a:prstGeom>
          <a:solidFill>
            <a:srgbClr val="0A7EA4"/>
          </a:solidFill>
          <a:ln/>
        </p:spPr>
      </p:sp>
      <p:sp>
        <p:nvSpPr>
          <p:cNvPr id="9" name="Text 7"/>
          <p:cNvSpPr/>
          <p:nvPr/>
        </p:nvSpPr>
        <p:spPr>
          <a:xfrm>
            <a:off x="3227832" y="804672"/>
            <a:ext cx="2651760"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9.2 — Method × Gender</a:t>
            </a:r>
            <a:endParaRPr lang="en-US" sz="850" dirty="0"/>
          </a:p>
        </p:txBody>
      </p:sp>
      <p:sp>
        <p:nvSpPr>
          <p:cNvPr id="10" name="Shape 8"/>
          <p:cNvSpPr/>
          <p:nvPr/>
        </p:nvSpPr>
        <p:spPr>
          <a:xfrm>
            <a:off x="3154680" y="1069848"/>
            <a:ext cx="2788920" cy="1417320"/>
          </a:xfrm>
          <a:prstGeom prst="rect">
            <a:avLst/>
          </a:prstGeom>
          <a:solidFill>
            <a:srgbClr val="0D1F33"/>
          </a:solidFill>
          <a:ln/>
        </p:spPr>
      </p:sp>
      <p:sp>
        <p:nvSpPr>
          <p:cNvPr id="11" name="Text 9"/>
          <p:cNvSpPr/>
          <p:nvPr/>
        </p:nvSpPr>
        <p:spPr>
          <a:xfrm>
            <a:off x="3227832" y="1115568"/>
            <a:ext cx="2651760" cy="1325880"/>
          </a:xfrm>
          <a:prstGeom prst="rect">
            <a:avLst/>
          </a:prstGeom>
          <a:noFill/>
          <a:ln/>
        </p:spPr>
        <p:txBody>
          <a:bodyPr wrap="square" lIns="0" tIns="0" rIns="0" bIns="0" rtlCol="0" anchor="ctr"/>
          <a:lstStyle/>
          <a:p>
            <a:pPr marL="0" indent="0">
              <a:buNone/>
            </a:pPr>
            <a:r>
              <a:rPr lang="en-US" sz="800" dirty="0">
                <a:solidFill>
                  <a:srgbClr val="90E0EF"/>
                </a:solidFill>
                <a:latin typeface="Consolas" pitchFamily="34" charset="0"/>
                <a:ea typeface="Consolas" pitchFamily="34" charset="-122"/>
                <a:cs typeface="Consolas" pitchFamily="34" charset="-120"/>
              </a:rPr>
              <a:t>SELECT payment_method, gender,</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  COUNT(gender) AS Total_Consumer</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FROM customer</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GROUP BY payment_method, gender</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ORDER BY Total_Consumer DESC;</a:t>
            </a:r>
            <a:endParaRPr lang="en-US" sz="800" dirty="0"/>
          </a:p>
        </p:txBody>
      </p:sp>
      <p:sp>
        <p:nvSpPr>
          <p:cNvPr id="12" name="Shape 10"/>
          <p:cNvSpPr/>
          <p:nvPr/>
        </p:nvSpPr>
        <p:spPr>
          <a:xfrm>
            <a:off x="6080760" y="777240"/>
            <a:ext cx="2788920" cy="292608"/>
          </a:xfrm>
          <a:prstGeom prst="rect">
            <a:avLst/>
          </a:prstGeom>
          <a:solidFill>
            <a:srgbClr val="0A7EA4"/>
          </a:solidFill>
          <a:ln/>
        </p:spPr>
      </p:sp>
      <p:sp>
        <p:nvSpPr>
          <p:cNvPr id="13" name="Text 11"/>
          <p:cNvSpPr/>
          <p:nvPr/>
        </p:nvSpPr>
        <p:spPr>
          <a:xfrm>
            <a:off x="6153912" y="804672"/>
            <a:ext cx="2651760"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9.3 — Method × Age Group</a:t>
            </a:r>
            <a:endParaRPr lang="en-US" sz="850" dirty="0"/>
          </a:p>
        </p:txBody>
      </p:sp>
      <p:sp>
        <p:nvSpPr>
          <p:cNvPr id="14" name="Shape 12"/>
          <p:cNvSpPr/>
          <p:nvPr/>
        </p:nvSpPr>
        <p:spPr>
          <a:xfrm>
            <a:off x="6080760" y="1069848"/>
            <a:ext cx="2788920" cy="1417320"/>
          </a:xfrm>
          <a:prstGeom prst="rect">
            <a:avLst/>
          </a:prstGeom>
          <a:solidFill>
            <a:srgbClr val="0D1F33"/>
          </a:solidFill>
          <a:ln/>
        </p:spPr>
      </p:sp>
      <p:sp>
        <p:nvSpPr>
          <p:cNvPr id="15" name="Text 13"/>
          <p:cNvSpPr/>
          <p:nvPr/>
        </p:nvSpPr>
        <p:spPr>
          <a:xfrm>
            <a:off x="6153912" y="1115568"/>
            <a:ext cx="2651760" cy="1325880"/>
          </a:xfrm>
          <a:prstGeom prst="rect">
            <a:avLst/>
          </a:prstGeom>
          <a:noFill/>
          <a:ln/>
        </p:spPr>
        <p:txBody>
          <a:bodyPr wrap="square" lIns="0" tIns="0" rIns="0" bIns="0" rtlCol="0" anchor="ctr"/>
          <a:lstStyle/>
          <a:p>
            <a:pPr marL="0" indent="0">
              <a:buNone/>
            </a:pPr>
            <a:r>
              <a:rPr lang="en-US" sz="800" dirty="0">
                <a:solidFill>
                  <a:srgbClr val="90E0EF"/>
                </a:solidFill>
                <a:latin typeface="Consolas" pitchFamily="34" charset="0"/>
                <a:ea typeface="Consolas" pitchFamily="34" charset="-122"/>
                <a:cs typeface="Consolas" pitchFamily="34" charset="-120"/>
              </a:rPr>
              <a:t>SELECT payment_method,</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  (CASE...END) AS Age_Cat,</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  COUNT(age) AS Total_Consumer</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FROM customer</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GROUP BY payment_method, Age_Cat</a:t>
            </a:r>
            <a:endParaRPr lang="en-US" sz="800" dirty="0"/>
          </a:p>
          <a:p>
            <a:pPr marL="0" indent="0">
              <a:buNone/>
            </a:pPr>
            <a:r>
              <a:rPr lang="en-US" sz="800" dirty="0">
                <a:solidFill>
                  <a:srgbClr val="90E0EF"/>
                </a:solidFill>
                <a:latin typeface="Consolas" pitchFamily="34" charset="0"/>
                <a:ea typeface="Consolas" pitchFamily="34" charset="-122"/>
                <a:cs typeface="Consolas" pitchFamily="34" charset="-120"/>
              </a:rPr>
              <a:t>ORDER BY Total_Consumer DESC;</a:t>
            </a:r>
            <a:endParaRPr lang="en-US" sz="800" dirty="0"/>
          </a:p>
        </p:txBody>
      </p:sp>
      <p:sp>
        <p:nvSpPr>
          <p:cNvPr id="16" name="Shape 14"/>
          <p:cNvSpPr/>
          <p:nvPr/>
        </p:nvSpPr>
        <p:spPr>
          <a:xfrm>
            <a:off x="228600" y="2624328"/>
            <a:ext cx="8686800" cy="1024128"/>
          </a:xfrm>
          <a:prstGeom prst="rect">
            <a:avLst/>
          </a:prstGeom>
          <a:solidFill>
            <a:srgbClr val="FFFFFF"/>
          </a:solidFill>
          <a:ln/>
          <a:effectLst>
            <a:outerShdw blurRad="101600" dist="38100" dir="8100000" algn="bl" rotWithShape="0">
              <a:srgbClr val="000000">
                <a:alpha val="12000"/>
              </a:srgbClr>
            </a:outerShdw>
          </a:effectLst>
        </p:spPr>
      </p:sp>
      <p:sp>
        <p:nvSpPr>
          <p:cNvPr id="17" name="Shape 15"/>
          <p:cNvSpPr/>
          <p:nvPr/>
        </p:nvSpPr>
        <p:spPr>
          <a:xfrm>
            <a:off x="228600" y="2624328"/>
            <a:ext cx="54864" cy="1024128"/>
          </a:xfrm>
          <a:prstGeom prst="rect">
            <a:avLst/>
          </a:prstGeom>
          <a:solidFill>
            <a:srgbClr val="0A7EA4"/>
          </a:solidFill>
          <a:ln/>
        </p:spPr>
      </p:sp>
      <p:sp>
        <p:nvSpPr>
          <p:cNvPr id="18" name="Text 16"/>
          <p:cNvSpPr/>
          <p:nvPr/>
        </p:nvSpPr>
        <p:spPr>
          <a:xfrm>
            <a:off x="374904" y="2734056"/>
            <a:ext cx="8430768" cy="804672"/>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This objective uses three related queries to examine payment method behavior across dimensions. Query 9.1 shows overall popularity. Query 9.2 cross-references gender to reveal payment preferences by gender. Query 9.3 maps payment methods to age groups — helping identify generational differences in payment behavior.</a:t>
            </a:r>
            <a:endParaRPr lang="en-US" sz="1100" dirty="0"/>
          </a:p>
        </p:txBody>
      </p:sp>
      <p:sp>
        <p:nvSpPr>
          <p:cNvPr id="19" name="Shape 17"/>
          <p:cNvSpPr/>
          <p:nvPr/>
        </p:nvSpPr>
        <p:spPr>
          <a:xfrm>
            <a:off x="228600" y="3767328"/>
            <a:ext cx="2788920" cy="777240"/>
          </a:xfrm>
          <a:prstGeom prst="rect">
            <a:avLst/>
          </a:prstGeom>
          <a:solidFill>
            <a:srgbClr val="0D1B4B"/>
          </a:solidFill>
          <a:ln/>
          <a:effectLst>
            <a:outerShdw blurRad="101600" dist="38100" dir="8100000" algn="bl" rotWithShape="0">
              <a:srgbClr val="000000">
                <a:alpha val="12000"/>
              </a:srgbClr>
            </a:outerShdw>
          </a:effectLst>
        </p:spPr>
      </p:sp>
      <p:sp>
        <p:nvSpPr>
          <p:cNvPr id="20" name="Text 18"/>
          <p:cNvSpPr/>
          <p:nvPr/>
        </p:nvSpPr>
        <p:spPr>
          <a:xfrm>
            <a:off x="320040" y="3813048"/>
            <a:ext cx="26060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Cash</a:t>
            </a:r>
            <a:endParaRPr lang="en-US" sz="1200" dirty="0"/>
          </a:p>
        </p:txBody>
      </p:sp>
      <p:sp>
        <p:nvSpPr>
          <p:cNvPr id="21" name="Text 19"/>
          <p:cNvSpPr/>
          <p:nvPr/>
        </p:nvSpPr>
        <p:spPr>
          <a:xfrm>
            <a:off x="320040" y="4114800"/>
            <a:ext cx="2606040" cy="347472"/>
          </a:xfrm>
          <a:prstGeom prst="rect">
            <a:avLst/>
          </a:prstGeom>
          <a:noFill/>
          <a:ln/>
        </p:spPr>
        <p:txBody>
          <a:bodyPr wrap="square" lIns="0" tIns="0" rIns="0" bIns="0" rtlCol="0" anchor="ctr"/>
          <a:lstStyle/>
          <a:p>
            <a:pPr marL="0" indent="0">
              <a:buNone/>
            </a:pPr>
            <a:r>
              <a:rPr lang="en-US" sz="900" dirty="0">
                <a:solidFill>
                  <a:srgbClr val="F7C948"/>
                </a:solidFill>
                <a:latin typeface="Calibri" pitchFamily="34" charset="0"/>
                <a:ea typeface="Calibri" pitchFamily="34" charset="-122"/>
                <a:cs typeface="Calibri" pitchFamily="34" charset="-120"/>
              </a:rPr>
              <a:t>44,447 uses  |  Top: Female, Age 36–45</a:t>
            </a:r>
            <a:endParaRPr lang="en-US" sz="900" dirty="0"/>
          </a:p>
        </p:txBody>
      </p:sp>
      <p:sp>
        <p:nvSpPr>
          <p:cNvPr id="22" name="Shape 20"/>
          <p:cNvSpPr/>
          <p:nvPr/>
        </p:nvSpPr>
        <p:spPr>
          <a:xfrm>
            <a:off x="3154680" y="3767328"/>
            <a:ext cx="2788920" cy="777240"/>
          </a:xfrm>
          <a:prstGeom prst="rect">
            <a:avLst/>
          </a:prstGeom>
          <a:solidFill>
            <a:srgbClr val="0A7EA4"/>
          </a:solidFill>
          <a:ln/>
          <a:effectLst>
            <a:outerShdw blurRad="101600" dist="38100" dir="8100000" algn="bl" rotWithShape="0">
              <a:srgbClr val="000000">
                <a:alpha val="12000"/>
              </a:srgbClr>
            </a:outerShdw>
          </a:effectLst>
        </p:spPr>
      </p:sp>
      <p:sp>
        <p:nvSpPr>
          <p:cNvPr id="23" name="Text 21"/>
          <p:cNvSpPr/>
          <p:nvPr/>
        </p:nvSpPr>
        <p:spPr>
          <a:xfrm>
            <a:off x="3246120" y="3813048"/>
            <a:ext cx="26060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Credit Card</a:t>
            </a:r>
            <a:endParaRPr lang="en-US" sz="1200" dirty="0"/>
          </a:p>
        </p:txBody>
      </p:sp>
      <p:sp>
        <p:nvSpPr>
          <p:cNvPr id="24" name="Text 22"/>
          <p:cNvSpPr/>
          <p:nvPr/>
        </p:nvSpPr>
        <p:spPr>
          <a:xfrm>
            <a:off x="3246120" y="4114800"/>
            <a:ext cx="2606040" cy="347472"/>
          </a:xfrm>
          <a:prstGeom prst="rect">
            <a:avLst/>
          </a:prstGeom>
          <a:noFill/>
          <a:ln/>
        </p:spPr>
        <p:txBody>
          <a:bodyPr wrap="square" lIns="0" tIns="0" rIns="0" bIns="0" rtlCol="0" anchor="ctr"/>
          <a:lstStyle/>
          <a:p>
            <a:pPr marL="0" indent="0">
              <a:buNone/>
            </a:pPr>
            <a:r>
              <a:rPr lang="en-US" sz="900" dirty="0">
                <a:solidFill>
                  <a:srgbClr val="F7C948"/>
                </a:solidFill>
                <a:latin typeface="Calibri" pitchFamily="34" charset="0"/>
                <a:ea typeface="Calibri" pitchFamily="34" charset="-122"/>
                <a:cs typeface="Calibri" pitchFamily="34" charset="-120"/>
              </a:rPr>
              <a:t>34,931 uses  |  Top: Female, Age 36–45</a:t>
            </a:r>
            <a:endParaRPr lang="en-US" sz="900" dirty="0"/>
          </a:p>
        </p:txBody>
      </p:sp>
      <p:sp>
        <p:nvSpPr>
          <p:cNvPr id="25" name="Shape 23"/>
          <p:cNvSpPr/>
          <p:nvPr/>
        </p:nvSpPr>
        <p:spPr>
          <a:xfrm>
            <a:off x="6080760" y="3767328"/>
            <a:ext cx="2788920" cy="777240"/>
          </a:xfrm>
          <a:prstGeom prst="rect">
            <a:avLst/>
          </a:prstGeom>
          <a:solidFill>
            <a:srgbClr val="1E3A5F"/>
          </a:solidFill>
          <a:ln/>
          <a:effectLst>
            <a:outerShdw blurRad="101600" dist="38100" dir="8100000" algn="bl" rotWithShape="0">
              <a:srgbClr val="000000">
                <a:alpha val="12000"/>
              </a:srgbClr>
            </a:outerShdw>
          </a:effectLst>
        </p:spPr>
      </p:sp>
      <p:sp>
        <p:nvSpPr>
          <p:cNvPr id="26" name="Text 24"/>
          <p:cNvSpPr/>
          <p:nvPr/>
        </p:nvSpPr>
        <p:spPr>
          <a:xfrm>
            <a:off x="6172200" y="3813048"/>
            <a:ext cx="26060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Debit Card</a:t>
            </a:r>
            <a:endParaRPr lang="en-US" sz="1200" dirty="0"/>
          </a:p>
        </p:txBody>
      </p:sp>
      <p:sp>
        <p:nvSpPr>
          <p:cNvPr id="27" name="Text 25"/>
          <p:cNvSpPr/>
          <p:nvPr/>
        </p:nvSpPr>
        <p:spPr>
          <a:xfrm>
            <a:off x="6172200" y="4114800"/>
            <a:ext cx="2606040" cy="347472"/>
          </a:xfrm>
          <a:prstGeom prst="rect">
            <a:avLst/>
          </a:prstGeom>
          <a:noFill/>
          <a:ln/>
        </p:spPr>
        <p:txBody>
          <a:bodyPr wrap="square" lIns="0" tIns="0" rIns="0" bIns="0" rtlCol="0" anchor="ctr"/>
          <a:lstStyle/>
          <a:p>
            <a:pPr marL="0" indent="0">
              <a:buNone/>
            </a:pPr>
            <a:r>
              <a:rPr lang="en-US" sz="900" dirty="0">
                <a:solidFill>
                  <a:srgbClr val="F7C948"/>
                </a:solidFill>
                <a:latin typeface="Calibri" pitchFamily="34" charset="0"/>
                <a:ea typeface="Calibri" pitchFamily="34" charset="-122"/>
                <a:cs typeface="Calibri" pitchFamily="34" charset="-120"/>
              </a:rPr>
              <a:t>20,079 uses  |  Top: Female, Age 36–45</a:t>
            </a:r>
            <a:endParaRPr lang="en-US" sz="900" dirty="0"/>
          </a:p>
        </p:txBody>
      </p:sp>
      <p:sp>
        <p:nvSpPr>
          <p:cNvPr id="28" name="Shape 26"/>
          <p:cNvSpPr/>
          <p:nvPr/>
        </p:nvSpPr>
        <p:spPr>
          <a:xfrm>
            <a:off x="274320" y="4645152"/>
            <a:ext cx="8595360" cy="256032"/>
          </a:xfrm>
          <a:prstGeom prst="rect">
            <a:avLst/>
          </a:prstGeom>
          <a:solidFill>
            <a:srgbClr val="0D1B4B">
              <a:alpha val="85000"/>
            </a:srgbClr>
          </a:solidFill>
          <a:ln/>
        </p:spPr>
      </p:sp>
      <p:sp>
        <p:nvSpPr>
          <p:cNvPr id="29" name="Text 27"/>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Cash dominates across all groups. Female customers in the 36–45 bracket prefer Cash most frequently.</a:t>
            </a:r>
            <a:endParaRPr lang="en-US" sz="950" dirty="0"/>
          </a:p>
        </p:txBody>
      </p:sp>
      <p:sp>
        <p:nvSpPr>
          <p:cNvPr id="30" name="Shape 28"/>
          <p:cNvSpPr/>
          <p:nvPr/>
        </p:nvSpPr>
        <p:spPr>
          <a:xfrm>
            <a:off x="0" y="4919472"/>
            <a:ext cx="9144000" cy="224028"/>
          </a:xfrm>
          <a:prstGeom prst="rect">
            <a:avLst/>
          </a:prstGeom>
          <a:solidFill>
            <a:srgbClr val="0B1230"/>
          </a:solidFill>
          <a:ln/>
        </p:spPr>
      </p:sp>
      <p:sp>
        <p:nvSpPr>
          <p:cNvPr id="31" name="Text 29"/>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4B"/>
          </a:solidFill>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Q10  |  How Is the Distribution of the Payment Method?</a:t>
            </a:r>
            <a:endParaRPr lang="en-US" sz="1900" dirty="0"/>
          </a:p>
        </p:txBody>
      </p:sp>
      <p:sp>
        <p:nvSpPr>
          <p:cNvPr id="4" name="Shape 2"/>
          <p:cNvSpPr/>
          <p:nvPr/>
        </p:nvSpPr>
        <p:spPr>
          <a:xfrm>
            <a:off x="274320" y="777240"/>
            <a:ext cx="4114800" cy="1691640"/>
          </a:xfrm>
          <a:prstGeom prst="rect">
            <a:avLst/>
          </a:prstGeom>
          <a:solidFill>
            <a:srgbClr val="0D1F33"/>
          </a:solidFill>
          <a:ln/>
          <a:effectLst>
            <a:outerShdw blurRad="101600" dist="38100" dir="8100000" algn="bl" rotWithShape="0">
              <a:srgbClr val="000000">
                <a:alpha val="12000"/>
              </a:srgbClr>
            </a:outerShdw>
          </a:effectLst>
        </p:spPr>
      </p:sp>
      <p:sp>
        <p:nvSpPr>
          <p:cNvPr id="5" name="Shape 3"/>
          <p:cNvSpPr/>
          <p:nvPr/>
        </p:nvSpPr>
        <p:spPr>
          <a:xfrm>
            <a:off x="274320" y="777240"/>
            <a:ext cx="4114800" cy="292608"/>
          </a:xfrm>
          <a:prstGeom prst="rect">
            <a:avLst/>
          </a:prstGeom>
          <a:solidFill>
            <a:srgbClr val="0A7EA4"/>
          </a:solidFill>
          <a:ln/>
        </p:spPr>
      </p:sp>
      <p:sp>
        <p:nvSpPr>
          <p:cNvPr id="6" name="Text 4"/>
          <p:cNvSpPr/>
          <p:nvPr/>
        </p:nvSpPr>
        <p:spPr>
          <a:xfrm>
            <a:off x="384048" y="813816"/>
            <a:ext cx="393192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SQL Query</a:t>
            </a:r>
            <a:endParaRPr lang="en-US" sz="900" dirty="0"/>
          </a:p>
        </p:txBody>
      </p:sp>
      <p:sp>
        <p:nvSpPr>
          <p:cNvPr id="7" name="Text 5"/>
          <p:cNvSpPr/>
          <p:nvPr/>
        </p:nvSpPr>
        <p:spPr>
          <a:xfrm>
            <a:off x="384048" y="1124712"/>
            <a:ext cx="3913632" cy="1271016"/>
          </a:xfrm>
          <a:prstGeom prst="rect">
            <a:avLst/>
          </a:prstGeom>
          <a:noFill/>
          <a:ln/>
        </p:spPr>
        <p:txBody>
          <a:bodyPr wrap="square" lIns="0" tIns="0" rIns="0" bIns="0" rtlCol="0" anchor="ctr"/>
          <a:lstStyle/>
          <a:p>
            <a:pPr marL="0" indent="0">
              <a:buNone/>
            </a:pPr>
            <a:r>
              <a:rPr lang="en-US" sz="900" dirty="0">
                <a:solidFill>
                  <a:srgbClr val="90E0EF"/>
                </a:solidFill>
                <a:latin typeface="Consolas" pitchFamily="34" charset="0"/>
                <a:ea typeface="Consolas" pitchFamily="34" charset="-122"/>
                <a:cs typeface="Consolas" pitchFamily="34" charset="-120"/>
              </a:rPr>
              <a:t>SELECT payment_method,</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  COUNT(payment_method) AS Total_Use_of_Method</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FROM customer</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GROUP BY payment_method</a:t>
            </a:r>
            <a:endParaRPr lang="en-US" sz="900" dirty="0"/>
          </a:p>
          <a:p>
            <a:pPr marL="0" indent="0">
              <a:buNone/>
            </a:pPr>
            <a:r>
              <a:rPr lang="en-US" sz="900" dirty="0">
                <a:solidFill>
                  <a:srgbClr val="90E0EF"/>
                </a:solidFill>
                <a:latin typeface="Consolas" pitchFamily="34" charset="0"/>
                <a:ea typeface="Consolas" pitchFamily="34" charset="-122"/>
                <a:cs typeface="Consolas" pitchFamily="34" charset="-120"/>
              </a:rPr>
              <a:t>ORDER BY Total_Use_of_Method DESC;</a:t>
            </a:r>
            <a:endParaRPr lang="en-US" sz="900" dirty="0"/>
          </a:p>
        </p:txBody>
      </p:sp>
      <p:sp>
        <p:nvSpPr>
          <p:cNvPr id="8" name="Shape 6"/>
          <p:cNvSpPr/>
          <p:nvPr/>
        </p:nvSpPr>
        <p:spPr>
          <a:xfrm>
            <a:off x="4663440" y="777240"/>
            <a:ext cx="4206240" cy="169164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663440" y="777240"/>
            <a:ext cx="54864" cy="1691640"/>
          </a:xfrm>
          <a:prstGeom prst="rect">
            <a:avLst/>
          </a:prstGeom>
          <a:solidFill>
            <a:srgbClr val="0A7EA4"/>
          </a:solidFill>
          <a:ln/>
        </p:spPr>
      </p:sp>
      <p:sp>
        <p:nvSpPr>
          <p:cNvPr id="10" name="Text 8"/>
          <p:cNvSpPr/>
          <p:nvPr/>
        </p:nvSpPr>
        <p:spPr>
          <a:xfrm>
            <a:off x="4809744" y="886968"/>
            <a:ext cx="3950208" cy="147218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This final payment query gives a clean top-level distribution of all payment methods used across the entire dataset. It answers the business question: what is the most common way customers pay? This is essential for optimizing checkout experiences and offering the right payment options.</a:t>
            </a:r>
            <a:endParaRPr lang="en-US" sz="1100" dirty="0"/>
          </a:p>
        </p:txBody>
      </p:sp>
      <p:graphicFrame>
        <p:nvGraphicFramePr>
          <p:cNvPr id="11" name="Chart 0"/>
          <p:cNvGraphicFramePr/>
          <p:nvPr>
            <p:extLst>
              <p:ext uri="{D42A27DB-BD31-4B8C-83A1-F6EECF244321}">
                <p14:modId xmlns:p14="http://schemas.microsoft.com/office/powerpoint/2010/main" val="2006701404"/>
              </p:ext>
            </p:extLst>
          </p:nvPr>
        </p:nvGraphicFramePr>
        <p:xfrm>
          <a:off x="274320" y="2633472"/>
          <a:ext cx="41148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4663440" y="2743200"/>
            <a:ext cx="4206240" cy="566928"/>
          </a:xfrm>
          <a:prstGeom prst="rect">
            <a:avLst/>
          </a:prstGeom>
          <a:solidFill>
            <a:srgbClr val="0D1B4B"/>
          </a:solidFill>
          <a:ln/>
          <a:effectLst>
            <a:outerShdw blurRad="101600" dist="38100" dir="8100000" algn="bl" rotWithShape="0">
              <a:srgbClr val="000000">
                <a:alpha val="12000"/>
              </a:srgbClr>
            </a:outerShdw>
          </a:effectLst>
        </p:spPr>
      </p:sp>
      <p:sp>
        <p:nvSpPr>
          <p:cNvPr id="13" name="Text 10"/>
          <p:cNvSpPr/>
          <p:nvPr/>
        </p:nvSpPr>
        <p:spPr>
          <a:xfrm>
            <a:off x="4773168" y="2816352"/>
            <a:ext cx="2194560" cy="36576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Cash</a:t>
            </a:r>
            <a:endParaRPr lang="en-US" sz="1200" dirty="0"/>
          </a:p>
        </p:txBody>
      </p:sp>
      <p:sp>
        <p:nvSpPr>
          <p:cNvPr id="14" name="Text 11"/>
          <p:cNvSpPr/>
          <p:nvPr/>
        </p:nvSpPr>
        <p:spPr>
          <a:xfrm>
            <a:off x="6858000" y="2834640"/>
            <a:ext cx="1920240" cy="347472"/>
          </a:xfrm>
          <a:prstGeom prst="rect">
            <a:avLst/>
          </a:prstGeom>
          <a:noFill/>
          <a:ln/>
        </p:spPr>
        <p:txBody>
          <a:bodyPr wrap="square" lIns="0" tIns="0" rIns="0" bIns="0" rtlCol="0" anchor="ctr"/>
          <a:lstStyle/>
          <a:p>
            <a:pPr marL="0" indent="0" algn="r">
              <a:buNone/>
            </a:pPr>
            <a:r>
              <a:rPr lang="en-US" sz="1200" b="1" dirty="0">
                <a:solidFill>
                  <a:srgbClr val="F7C948"/>
                </a:solidFill>
                <a:latin typeface="Trebuchet MS" pitchFamily="34" charset="0"/>
                <a:ea typeface="Trebuchet MS" pitchFamily="34" charset="-122"/>
                <a:cs typeface="Trebuchet MS" pitchFamily="34" charset="-120"/>
              </a:rPr>
              <a:t>44,447  (44.73%)</a:t>
            </a:r>
            <a:endParaRPr lang="en-US" sz="1200" dirty="0"/>
          </a:p>
        </p:txBody>
      </p:sp>
      <p:sp>
        <p:nvSpPr>
          <p:cNvPr id="15" name="Shape 12"/>
          <p:cNvSpPr/>
          <p:nvPr/>
        </p:nvSpPr>
        <p:spPr>
          <a:xfrm>
            <a:off x="4663440" y="3401568"/>
            <a:ext cx="4206240" cy="566928"/>
          </a:xfrm>
          <a:prstGeom prst="rect">
            <a:avLst/>
          </a:prstGeom>
          <a:solidFill>
            <a:srgbClr val="0A7EA4"/>
          </a:solidFill>
          <a:ln/>
          <a:effectLst>
            <a:outerShdw blurRad="101600" dist="38100" dir="8100000" algn="bl" rotWithShape="0">
              <a:srgbClr val="000000">
                <a:alpha val="12000"/>
              </a:srgbClr>
            </a:outerShdw>
          </a:effectLst>
        </p:spPr>
      </p:sp>
      <p:sp>
        <p:nvSpPr>
          <p:cNvPr id="16" name="Text 13"/>
          <p:cNvSpPr/>
          <p:nvPr/>
        </p:nvSpPr>
        <p:spPr>
          <a:xfrm>
            <a:off x="4773168" y="3474720"/>
            <a:ext cx="2194560" cy="36576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Credit Card</a:t>
            </a:r>
            <a:endParaRPr lang="en-US" sz="1200" dirty="0"/>
          </a:p>
        </p:txBody>
      </p:sp>
      <p:sp>
        <p:nvSpPr>
          <p:cNvPr id="17" name="Text 14"/>
          <p:cNvSpPr/>
          <p:nvPr/>
        </p:nvSpPr>
        <p:spPr>
          <a:xfrm>
            <a:off x="6858000" y="3493008"/>
            <a:ext cx="1920240" cy="347472"/>
          </a:xfrm>
          <a:prstGeom prst="rect">
            <a:avLst/>
          </a:prstGeom>
          <a:noFill/>
          <a:ln/>
        </p:spPr>
        <p:txBody>
          <a:bodyPr wrap="square" lIns="0" tIns="0" rIns="0" bIns="0" rtlCol="0" anchor="ctr"/>
          <a:lstStyle/>
          <a:p>
            <a:pPr marL="0" indent="0" algn="r">
              <a:buNone/>
            </a:pPr>
            <a:r>
              <a:rPr lang="en-US" sz="1200" b="1" dirty="0">
                <a:solidFill>
                  <a:srgbClr val="F7C948"/>
                </a:solidFill>
                <a:latin typeface="Trebuchet MS" pitchFamily="34" charset="0"/>
                <a:ea typeface="Trebuchet MS" pitchFamily="34" charset="-122"/>
                <a:cs typeface="Trebuchet MS" pitchFamily="34" charset="-120"/>
              </a:rPr>
              <a:t>34,931  (35.16%)</a:t>
            </a:r>
            <a:endParaRPr lang="en-US" sz="1200" dirty="0"/>
          </a:p>
        </p:txBody>
      </p:sp>
      <p:sp>
        <p:nvSpPr>
          <p:cNvPr id="18" name="Shape 15"/>
          <p:cNvSpPr/>
          <p:nvPr/>
        </p:nvSpPr>
        <p:spPr>
          <a:xfrm>
            <a:off x="4663440" y="4059936"/>
            <a:ext cx="4206240" cy="566928"/>
          </a:xfrm>
          <a:prstGeom prst="rect">
            <a:avLst/>
          </a:prstGeom>
          <a:solidFill>
            <a:srgbClr val="1E3A5F"/>
          </a:solidFill>
          <a:ln/>
          <a:effectLst>
            <a:outerShdw blurRad="101600" dist="38100" dir="8100000" algn="bl" rotWithShape="0">
              <a:srgbClr val="000000">
                <a:alpha val="12000"/>
              </a:srgbClr>
            </a:outerShdw>
          </a:effectLst>
        </p:spPr>
      </p:sp>
      <p:sp>
        <p:nvSpPr>
          <p:cNvPr id="19" name="Text 16"/>
          <p:cNvSpPr/>
          <p:nvPr/>
        </p:nvSpPr>
        <p:spPr>
          <a:xfrm>
            <a:off x="4773168" y="4133088"/>
            <a:ext cx="2194560" cy="36576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Debit Card</a:t>
            </a:r>
            <a:endParaRPr lang="en-US" sz="1200" dirty="0"/>
          </a:p>
        </p:txBody>
      </p:sp>
      <p:sp>
        <p:nvSpPr>
          <p:cNvPr id="20" name="Text 17"/>
          <p:cNvSpPr/>
          <p:nvPr/>
        </p:nvSpPr>
        <p:spPr>
          <a:xfrm>
            <a:off x="6858000" y="4151376"/>
            <a:ext cx="1920240" cy="347472"/>
          </a:xfrm>
          <a:prstGeom prst="rect">
            <a:avLst/>
          </a:prstGeom>
          <a:noFill/>
          <a:ln/>
        </p:spPr>
        <p:txBody>
          <a:bodyPr wrap="square" lIns="0" tIns="0" rIns="0" bIns="0" rtlCol="0" anchor="ctr"/>
          <a:lstStyle/>
          <a:p>
            <a:pPr marL="0" indent="0" algn="r">
              <a:buNone/>
            </a:pPr>
            <a:r>
              <a:rPr lang="en-US" sz="1200" b="1" dirty="0">
                <a:solidFill>
                  <a:srgbClr val="F7C948"/>
                </a:solidFill>
                <a:latin typeface="Trebuchet MS" pitchFamily="34" charset="0"/>
                <a:ea typeface="Trebuchet MS" pitchFamily="34" charset="-122"/>
                <a:cs typeface="Trebuchet MS" pitchFamily="34" charset="-120"/>
              </a:rPr>
              <a:t>20,079  (20.21%)</a:t>
            </a:r>
            <a:endParaRPr lang="en-US" sz="1200" dirty="0"/>
          </a:p>
        </p:txBody>
      </p:sp>
      <p:sp>
        <p:nvSpPr>
          <p:cNvPr id="21" name="Shape 18"/>
          <p:cNvSpPr/>
          <p:nvPr/>
        </p:nvSpPr>
        <p:spPr>
          <a:xfrm>
            <a:off x="274320" y="4645152"/>
            <a:ext cx="8595360" cy="256032"/>
          </a:xfrm>
          <a:prstGeom prst="rect">
            <a:avLst/>
          </a:prstGeom>
          <a:solidFill>
            <a:srgbClr val="0D1B4B">
              <a:alpha val="85000"/>
            </a:srgbClr>
          </a:solidFill>
          <a:ln/>
        </p:spPr>
      </p:sp>
      <p:sp>
        <p:nvSpPr>
          <p:cNvPr id="22" name="Text 19"/>
          <p:cNvSpPr/>
          <p:nvPr/>
        </p:nvSpPr>
        <p:spPr>
          <a:xfrm>
            <a:off x="365760" y="4663440"/>
            <a:ext cx="8412480" cy="219456"/>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Cash accounts for nearly 45% of all transactions — suggesting many customers prefer traditional payment over digital methods.</a:t>
            </a:r>
            <a:endParaRPr lang="en-US" sz="950" dirty="0"/>
          </a:p>
        </p:txBody>
      </p:sp>
      <p:sp>
        <p:nvSpPr>
          <p:cNvPr id="23" name="Shape 20"/>
          <p:cNvSpPr/>
          <p:nvPr/>
        </p:nvSpPr>
        <p:spPr>
          <a:xfrm>
            <a:off x="0" y="4919472"/>
            <a:ext cx="9144000" cy="224028"/>
          </a:xfrm>
          <a:prstGeom prst="rect">
            <a:avLst/>
          </a:prstGeom>
          <a:solidFill>
            <a:srgbClr val="0B1230"/>
          </a:solidFill>
          <a:ln/>
        </p:spPr>
      </p:sp>
      <p:sp>
        <p:nvSpPr>
          <p:cNvPr id="24" name="Text 21"/>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1371600" y="3200400"/>
            <a:ext cx="4572000" cy="4572000"/>
          </a:xfrm>
          <a:prstGeom prst="ellipse">
            <a:avLst/>
          </a:prstGeom>
          <a:solidFill>
            <a:srgbClr val="0A7EA4">
              <a:alpha val="18000"/>
            </a:srgbClr>
          </a:solidFill>
          <a:ln/>
        </p:spPr>
      </p:sp>
      <p:sp>
        <p:nvSpPr>
          <p:cNvPr id="3" name="Shape 1"/>
          <p:cNvSpPr/>
          <p:nvPr/>
        </p:nvSpPr>
        <p:spPr>
          <a:xfrm>
            <a:off x="6858000" y="-1371600"/>
            <a:ext cx="3657600" cy="3657600"/>
          </a:xfrm>
          <a:prstGeom prst="ellipse">
            <a:avLst/>
          </a:prstGeom>
          <a:solidFill>
            <a:srgbClr val="5EC8E5">
              <a:alpha val="15000"/>
            </a:srgbClr>
          </a:solidFill>
          <a:ln/>
        </p:spPr>
      </p:sp>
      <p:sp>
        <p:nvSpPr>
          <p:cNvPr id="4" name="Text 2"/>
          <p:cNvSpPr/>
          <p:nvPr/>
        </p:nvSpPr>
        <p:spPr>
          <a:xfrm>
            <a:off x="320040" y="164592"/>
            <a:ext cx="8503920" cy="384048"/>
          </a:xfrm>
          <a:prstGeom prst="rect">
            <a:avLst/>
          </a:prstGeom>
          <a:noFill/>
          <a:ln/>
        </p:spPr>
        <p:txBody>
          <a:bodyPr wrap="square" lIns="0" tIns="0" rIns="0" bIns="0" rtlCol="0" anchor="ctr"/>
          <a:lstStyle/>
          <a:p>
            <a:pPr marL="0" indent="0">
              <a:buNone/>
            </a:pPr>
            <a:r>
              <a:rPr lang="en-US" sz="1400" b="1" kern="0" spc="500" dirty="0">
                <a:solidFill>
                  <a:srgbClr val="5EC8E5"/>
                </a:solidFill>
                <a:latin typeface="Trebuchet MS" pitchFamily="34" charset="0"/>
                <a:ea typeface="Trebuchet MS" pitchFamily="34" charset="-122"/>
                <a:cs typeface="Trebuchet MS" pitchFamily="34" charset="-120"/>
              </a:rPr>
              <a:t>KEY TAKEAWAYS &amp; INSIGHTS</a:t>
            </a:r>
            <a:endParaRPr lang="en-US" sz="1400" dirty="0"/>
          </a:p>
        </p:txBody>
      </p:sp>
      <p:sp>
        <p:nvSpPr>
          <p:cNvPr id="5" name="Shape 3"/>
          <p:cNvSpPr/>
          <p:nvPr/>
        </p:nvSpPr>
        <p:spPr>
          <a:xfrm>
            <a:off x="228600" y="713232"/>
            <a:ext cx="4297680" cy="1188720"/>
          </a:xfrm>
          <a:prstGeom prst="rect">
            <a:avLst/>
          </a:prstGeom>
          <a:solidFill>
            <a:srgbClr val="FFFFFF">
              <a:alpha val="12000"/>
            </a:srgbClr>
          </a:solidFill>
          <a:ln/>
        </p:spPr>
      </p:sp>
      <p:sp>
        <p:nvSpPr>
          <p:cNvPr id="6" name="Shape 4"/>
          <p:cNvSpPr/>
          <p:nvPr/>
        </p:nvSpPr>
        <p:spPr>
          <a:xfrm>
            <a:off x="228600" y="713232"/>
            <a:ext cx="502920" cy="1188720"/>
          </a:xfrm>
          <a:prstGeom prst="rect">
            <a:avLst/>
          </a:prstGeom>
          <a:solidFill>
            <a:srgbClr val="0A7EA4"/>
          </a:solidFill>
          <a:ln/>
        </p:spPr>
      </p:sp>
      <p:sp>
        <p:nvSpPr>
          <p:cNvPr id="7" name="Text 5"/>
          <p:cNvSpPr/>
          <p:nvPr/>
        </p:nvSpPr>
        <p:spPr>
          <a:xfrm>
            <a:off x="283464" y="1005840"/>
            <a:ext cx="402336"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822960" y="804672"/>
            <a:ext cx="36118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Gender Dominance</a:t>
            </a:r>
            <a:endParaRPr lang="en-US" sz="1200" dirty="0"/>
          </a:p>
        </p:txBody>
      </p:sp>
      <p:sp>
        <p:nvSpPr>
          <p:cNvPr id="9" name="Text 7"/>
          <p:cNvSpPr/>
          <p:nvPr/>
        </p:nvSpPr>
        <p:spPr>
          <a:xfrm>
            <a:off x="822960" y="1124712"/>
            <a:ext cx="3611880" cy="713232"/>
          </a:xfrm>
          <a:prstGeom prst="rect">
            <a:avLst/>
          </a:prstGeom>
          <a:noFill/>
          <a:ln/>
        </p:spPr>
        <p:txBody>
          <a:bodyPr wrap="square" lIns="0" tIns="0" rIns="0" bIns="0" rtlCol="0" anchor="ctr"/>
          <a:lstStyle/>
          <a:p>
            <a:pPr marL="0" indent="0">
              <a:buNone/>
            </a:pPr>
            <a:r>
              <a:rPr lang="en-US" sz="950" dirty="0">
                <a:solidFill>
                  <a:srgbClr val="B0CCE0"/>
                </a:solidFill>
                <a:latin typeface="Calibri" pitchFamily="34" charset="0"/>
                <a:ea typeface="Calibri" pitchFamily="34" charset="-122"/>
                <a:cs typeface="Calibri" pitchFamily="34" charset="-120"/>
              </a:rPr>
              <a:t>Female customers account for ~60% of all orders, quantities sold, and revenue — making them the primary target segment.</a:t>
            </a:r>
            <a:endParaRPr lang="en-US" sz="950" dirty="0"/>
          </a:p>
        </p:txBody>
      </p:sp>
      <p:sp>
        <p:nvSpPr>
          <p:cNvPr id="10" name="Shape 8"/>
          <p:cNvSpPr/>
          <p:nvPr/>
        </p:nvSpPr>
        <p:spPr>
          <a:xfrm>
            <a:off x="4709160" y="713232"/>
            <a:ext cx="4297680" cy="1188720"/>
          </a:xfrm>
          <a:prstGeom prst="rect">
            <a:avLst/>
          </a:prstGeom>
          <a:solidFill>
            <a:srgbClr val="FFFFFF">
              <a:alpha val="12000"/>
            </a:srgbClr>
          </a:solidFill>
          <a:ln/>
        </p:spPr>
      </p:sp>
      <p:sp>
        <p:nvSpPr>
          <p:cNvPr id="11" name="Shape 9"/>
          <p:cNvSpPr/>
          <p:nvPr/>
        </p:nvSpPr>
        <p:spPr>
          <a:xfrm>
            <a:off x="4709160" y="713232"/>
            <a:ext cx="502920" cy="1188720"/>
          </a:xfrm>
          <a:prstGeom prst="rect">
            <a:avLst/>
          </a:prstGeom>
          <a:solidFill>
            <a:srgbClr val="0A7EA4"/>
          </a:solidFill>
          <a:ln/>
        </p:spPr>
      </p:sp>
      <p:sp>
        <p:nvSpPr>
          <p:cNvPr id="12" name="Text 10"/>
          <p:cNvSpPr/>
          <p:nvPr/>
        </p:nvSpPr>
        <p:spPr>
          <a:xfrm>
            <a:off x="4764024" y="1005840"/>
            <a:ext cx="402336"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5303520" y="804672"/>
            <a:ext cx="36118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Top Category</a:t>
            </a:r>
            <a:endParaRPr lang="en-US" sz="1200" dirty="0"/>
          </a:p>
        </p:txBody>
      </p:sp>
      <p:sp>
        <p:nvSpPr>
          <p:cNvPr id="14" name="Text 12"/>
          <p:cNvSpPr/>
          <p:nvPr/>
        </p:nvSpPr>
        <p:spPr>
          <a:xfrm>
            <a:off x="5303520" y="1124712"/>
            <a:ext cx="3611880" cy="713232"/>
          </a:xfrm>
          <a:prstGeom prst="rect">
            <a:avLst/>
          </a:prstGeom>
          <a:noFill/>
          <a:ln/>
        </p:spPr>
        <p:txBody>
          <a:bodyPr wrap="square" lIns="0" tIns="0" rIns="0" bIns="0" rtlCol="0" anchor="ctr"/>
          <a:lstStyle/>
          <a:p>
            <a:pPr marL="0" indent="0">
              <a:buNone/>
            </a:pPr>
            <a:r>
              <a:rPr lang="en-US" sz="950" dirty="0">
                <a:solidFill>
                  <a:srgbClr val="B0CCE0"/>
                </a:solidFill>
                <a:latin typeface="Calibri" pitchFamily="34" charset="0"/>
                <a:ea typeface="Calibri" pitchFamily="34" charset="-122"/>
                <a:cs typeface="Calibri" pitchFamily="34" charset="-120"/>
              </a:rPr>
              <a:t>Clothing is the #1 revenue and order category across both genders. Female Clothing alone generates ₺6.83 Cr. And </a:t>
            </a:r>
          </a:p>
          <a:p>
            <a:pPr marL="0" indent="0">
              <a:buNone/>
            </a:pPr>
            <a:r>
              <a:rPr lang="en-US" sz="950" dirty="0">
                <a:solidFill>
                  <a:srgbClr val="B0CCE0"/>
                </a:solidFill>
                <a:latin typeface="Calibri" pitchFamily="34" charset="0"/>
                <a:ea typeface="Calibri" pitchFamily="34" charset="-122"/>
                <a:cs typeface="Calibri" pitchFamily="34" charset="-120"/>
              </a:rPr>
              <a:t>Male Clothing generates ₺4.57 Cr.</a:t>
            </a:r>
            <a:endParaRPr lang="en-US" sz="950" dirty="0"/>
          </a:p>
        </p:txBody>
      </p:sp>
      <p:sp>
        <p:nvSpPr>
          <p:cNvPr id="15" name="Shape 13"/>
          <p:cNvSpPr/>
          <p:nvPr/>
        </p:nvSpPr>
        <p:spPr>
          <a:xfrm>
            <a:off x="228600" y="2066544"/>
            <a:ext cx="4297680" cy="1188720"/>
          </a:xfrm>
          <a:prstGeom prst="rect">
            <a:avLst/>
          </a:prstGeom>
          <a:solidFill>
            <a:srgbClr val="FFFFFF">
              <a:alpha val="12000"/>
            </a:srgbClr>
          </a:solidFill>
          <a:ln/>
        </p:spPr>
      </p:sp>
      <p:sp>
        <p:nvSpPr>
          <p:cNvPr id="16" name="Shape 14"/>
          <p:cNvSpPr/>
          <p:nvPr/>
        </p:nvSpPr>
        <p:spPr>
          <a:xfrm>
            <a:off x="228600" y="2066544"/>
            <a:ext cx="502920" cy="1188720"/>
          </a:xfrm>
          <a:prstGeom prst="rect">
            <a:avLst/>
          </a:prstGeom>
          <a:solidFill>
            <a:srgbClr val="0A7EA4"/>
          </a:solidFill>
          <a:ln/>
        </p:spPr>
      </p:sp>
      <p:sp>
        <p:nvSpPr>
          <p:cNvPr id="17" name="Text 15"/>
          <p:cNvSpPr/>
          <p:nvPr/>
        </p:nvSpPr>
        <p:spPr>
          <a:xfrm>
            <a:off x="283464" y="2359152"/>
            <a:ext cx="402336"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822960" y="2157984"/>
            <a:ext cx="36118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Peak Age Group</a:t>
            </a:r>
            <a:endParaRPr lang="en-US" sz="1200" dirty="0"/>
          </a:p>
        </p:txBody>
      </p:sp>
      <p:sp>
        <p:nvSpPr>
          <p:cNvPr id="19" name="Text 17"/>
          <p:cNvSpPr/>
          <p:nvPr/>
        </p:nvSpPr>
        <p:spPr>
          <a:xfrm>
            <a:off x="822960" y="2478024"/>
            <a:ext cx="3611880" cy="713232"/>
          </a:xfrm>
          <a:prstGeom prst="rect">
            <a:avLst/>
          </a:prstGeom>
          <a:noFill/>
          <a:ln/>
        </p:spPr>
        <p:txBody>
          <a:bodyPr wrap="square" lIns="0" tIns="0" rIns="0" bIns="0" rtlCol="0" anchor="ctr"/>
          <a:lstStyle/>
          <a:p>
            <a:pPr marL="0" indent="0">
              <a:buNone/>
            </a:pPr>
            <a:r>
              <a:rPr lang="en-US" sz="950" dirty="0">
                <a:solidFill>
                  <a:srgbClr val="B0CCE0"/>
                </a:solidFill>
                <a:latin typeface="Calibri" pitchFamily="34" charset="0"/>
                <a:ea typeface="Calibri" pitchFamily="34" charset="-122"/>
                <a:cs typeface="Calibri" pitchFamily="34" charset="-120"/>
              </a:rPr>
              <a:t>The 36–45 age bracket leads in all KPIs — orders (19.54%), products sold (19.58%), and revenue (19.95%).</a:t>
            </a:r>
            <a:endParaRPr lang="en-US" sz="950" dirty="0"/>
          </a:p>
        </p:txBody>
      </p:sp>
      <p:sp>
        <p:nvSpPr>
          <p:cNvPr id="20" name="Shape 18"/>
          <p:cNvSpPr/>
          <p:nvPr/>
        </p:nvSpPr>
        <p:spPr>
          <a:xfrm>
            <a:off x="4709160" y="2066544"/>
            <a:ext cx="4297680" cy="1188720"/>
          </a:xfrm>
          <a:prstGeom prst="rect">
            <a:avLst/>
          </a:prstGeom>
          <a:solidFill>
            <a:srgbClr val="FFFFFF">
              <a:alpha val="12000"/>
            </a:srgbClr>
          </a:solidFill>
          <a:ln/>
        </p:spPr>
      </p:sp>
      <p:sp>
        <p:nvSpPr>
          <p:cNvPr id="21" name="Shape 19"/>
          <p:cNvSpPr/>
          <p:nvPr/>
        </p:nvSpPr>
        <p:spPr>
          <a:xfrm>
            <a:off x="4709160" y="2066544"/>
            <a:ext cx="502920" cy="1188720"/>
          </a:xfrm>
          <a:prstGeom prst="rect">
            <a:avLst/>
          </a:prstGeom>
          <a:solidFill>
            <a:srgbClr val="0A7EA4"/>
          </a:solidFill>
          <a:ln/>
        </p:spPr>
      </p:sp>
      <p:sp>
        <p:nvSpPr>
          <p:cNvPr id="22" name="Text 20"/>
          <p:cNvSpPr/>
          <p:nvPr/>
        </p:nvSpPr>
        <p:spPr>
          <a:xfrm>
            <a:off x="4764024" y="2359152"/>
            <a:ext cx="402336"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3" name="Text 21"/>
          <p:cNvSpPr/>
          <p:nvPr/>
        </p:nvSpPr>
        <p:spPr>
          <a:xfrm>
            <a:off x="5303520" y="2157984"/>
            <a:ext cx="36118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Payment Preference</a:t>
            </a:r>
            <a:endParaRPr lang="en-US" sz="1200" dirty="0"/>
          </a:p>
        </p:txBody>
      </p:sp>
      <p:sp>
        <p:nvSpPr>
          <p:cNvPr id="24" name="Text 22"/>
          <p:cNvSpPr/>
          <p:nvPr/>
        </p:nvSpPr>
        <p:spPr>
          <a:xfrm>
            <a:off x="5303520" y="2478024"/>
            <a:ext cx="3611880" cy="713232"/>
          </a:xfrm>
          <a:prstGeom prst="rect">
            <a:avLst/>
          </a:prstGeom>
          <a:noFill/>
          <a:ln/>
        </p:spPr>
        <p:txBody>
          <a:bodyPr wrap="square" lIns="0" tIns="0" rIns="0" bIns="0" rtlCol="0" anchor="ctr"/>
          <a:lstStyle/>
          <a:p>
            <a:pPr marL="0" indent="0">
              <a:buNone/>
            </a:pPr>
            <a:r>
              <a:rPr lang="en-US" sz="950" dirty="0">
                <a:solidFill>
                  <a:srgbClr val="B0CCE0"/>
                </a:solidFill>
                <a:latin typeface="Calibri" pitchFamily="34" charset="0"/>
                <a:ea typeface="Calibri" pitchFamily="34" charset="-122"/>
                <a:cs typeface="Calibri" pitchFamily="34" charset="-120"/>
              </a:rPr>
              <a:t>Cash is the most used payment method (44.73%), used most by Female customers in the 36–45 age group.</a:t>
            </a:r>
            <a:endParaRPr lang="en-US" sz="950" dirty="0"/>
          </a:p>
        </p:txBody>
      </p:sp>
      <p:sp>
        <p:nvSpPr>
          <p:cNvPr id="25" name="Shape 23"/>
          <p:cNvSpPr/>
          <p:nvPr/>
        </p:nvSpPr>
        <p:spPr>
          <a:xfrm>
            <a:off x="228600" y="3419856"/>
            <a:ext cx="4297680" cy="1188720"/>
          </a:xfrm>
          <a:prstGeom prst="rect">
            <a:avLst/>
          </a:prstGeom>
          <a:solidFill>
            <a:srgbClr val="FFFFFF">
              <a:alpha val="12000"/>
            </a:srgbClr>
          </a:solidFill>
          <a:ln/>
        </p:spPr>
      </p:sp>
      <p:sp>
        <p:nvSpPr>
          <p:cNvPr id="26" name="Shape 24"/>
          <p:cNvSpPr/>
          <p:nvPr/>
        </p:nvSpPr>
        <p:spPr>
          <a:xfrm>
            <a:off x="228600" y="3419856"/>
            <a:ext cx="502920" cy="1188720"/>
          </a:xfrm>
          <a:prstGeom prst="rect">
            <a:avLst/>
          </a:prstGeom>
          <a:solidFill>
            <a:srgbClr val="0A7EA4"/>
          </a:solidFill>
          <a:ln/>
        </p:spPr>
      </p:sp>
      <p:sp>
        <p:nvSpPr>
          <p:cNvPr id="27" name="Text 25"/>
          <p:cNvSpPr/>
          <p:nvPr/>
        </p:nvSpPr>
        <p:spPr>
          <a:xfrm>
            <a:off x="283464" y="3712464"/>
            <a:ext cx="402336"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8" name="Text 26"/>
          <p:cNvSpPr/>
          <p:nvPr/>
        </p:nvSpPr>
        <p:spPr>
          <a:xfrm>
            <a:off x="822960" y="3511296"/>
            <a:ext cx="36118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Mid-Range Age Opportunity</a:t>
            </a:r>
            <a:endParaRPr lang="en-US" sz="1200" dirty="0"/>
          </a:p>
        </p:txBody>
      </p:sp>
      <p:sp>
        <p:nvSpPr>
          <p:cNvPr id="29" name="Text 27"/>
          <p:cNvSpPr/>
          <p:nvPr/>
        </p:nvSpPr>
        <p:spPr>
          <a:xfrm>
            <a:off x="822960" y="3831336"/>
            <a:ext cx="3611880" cy="713232"/>
          </a:xfrm>
          <a:prstGeom prst="rect">
            <a:avLst/>
          </a:prstGeom>
          <a:noFill/>
          <a:ln/>
        </p:spPr>
        <p:txBody>
          <a:bodyPr wrap="square" lIns="0" tIns="0" rIns="0" bIns="0" rtlCol="0" anchor="ctr"/>
          <a:lstStyle/>
          <a:p>
            <a:pPr marL="0" indent="0">
              <a:buNone/>
            </a:pPr>
            <a:r>
              <a:rPr lang="en-US" sz="950" dirty="0">
                <a:solidFill>
                  <a:srgbClr val="B0CCE0"/>
                </a:solidFill>
                <a:latin typeface="Calibri" pitchFamily="34" charset="0"/>
                <a:ea typeface="Calibri" pitchFamily="34" charset="-122"/>
                <a:cs typeface="Calibri" pitchFamily="34" charset="-120"/>
              </a:rPr>
              <a:t>Groups 26–35, 46–55, and 56–65 are nearly equal contributors — represent an untapped opportunity for campaigns.</a:t>
            </a:r>
            <a:endParaRPr lang="en-US" sz="950" dirty="0"/>
          </a:p>
        </p:txBody>
      </p:sp>
      <p:sp>
        <p:nvSpPr>
          <p:cNvPr id="30" name="Shape 28"/>
          <p:cNvSpPr/>
          <p:nvPr/>
        </p:nvSpPr>
        <p:spPr>
          <a:xfrm>
            <a:off x="4709160" y="3419856"/>
            <a:ext cx="4297680" cy="1188720"/>
          </a:xfrm>
          <a:prstGeom prst="rect">
            <a:avLst/>
          </a:prstGeom>
          <a:solidFill>
            <a:srgbClr val="FFFFFF">
              <a:alpha val="12000"/>
            </a:srgbClr>
          </a:solidFill>
          <a:ln/>
        </p:spPr>
      </p:sp>
      <p:sp>
        <p:nvSpPr>
          <p:cNvPr id="31" name="Shape 29"/>
          <p:cNvSpPr/>
          <p:nvPr/>
        </p:nvSpPr>
        <p:spPr>
          <a:xfrm>
            <a:off x="4709160" y="3419856"/>
            <a:ext cx="502920" cy="1188720"/>
          </a:xfrm>
          <a:prstGeom prst="rect">
            <a:avLst/>
          </a:prstGeom>
          <a:solidFill>
            <a:srgbClr val="0A7EA4"/>
          </a:solidFill>
          <a:ln/>
        </p:spPr>
      </p:sp>
      <p:sp>
        <p:nvSpPr>
          <p:cNvPr id="32" name="Text 30"/>
          <p:cNvSpPr/>
          <p:nvPr/>
        </p:nvSpPr>
        <p:spPr>
          <a:xfrm>
            <a:off x="4764024" y="3712464"/>
            <a:ext cx="402336"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3" name="Text 31"/>
          <p:cNvSpPr/>
          <p:nvPr/>
        </p:nvSpPr>
        <p:spPr>
          <a:xfrm>
            <a:off x="5303520" y="3511296"/>
            <a:ext cx="36118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Strategic Insight</a:t>
            </a:r>
            <a:endParaRPr lang="en-US" sz="1200" dirty="0"/>
          </a:p>
        </p:txBody>
      </p:sp>
      <p:sp>
        <p:nvSpPr>
          <p:cNvPr id="34" name="Text 32"/>
          <p:cNvSpPr/>
          <p:nvPr/>
        </p:nvSpPr>
        <p:spPr>
          <a:xfrm>
            <a:off x="5303520" y="3831336"/>
            <a:ext cx="3611880" cy="713232"/>
          </a:xfrm>
          <a:prstGeom prst="rect">
            <a:avLst/>
          </a:prstGeom>
          <a:noFill/>
          <a:ln/>
        </p:spPr>
        <p:txBody>
          <a:bodyPr wrap="square" lIns="0" tIns="0" rIns="0" bIns="0" rtlCol="0" anchor="ctr"/>
          <a:lstStyle/>
          <a:p>
            <a:pPr marL="0" indent="0">
              <a:buNone/>
            </a:pPr>
            <a:r>
              <a:rPr lang="en-US" sz="950" dirty="0">
                <a:solidFill>
                  <a:srgbClr val="B0CCE0"/>
                </a:solidFill>
                <a:latin typeface="Calibri" pitchFamily="34" charset="0"/>
                <a:ea typeface="Calibri" pitchFamily="34" charset="-122"/>
                <a:cs typeface="Calibri" pitchFamily="34" charset="-120"/>
              </a:rPr>
              <a:t>A campaign targeting Female, 36–45, Clothing + Cash can maximize ROI — this profile represents the highest-value customer persona.</a:t>
            </a:r>
            <a:endParaRPr lang="en-US" sz="950" dirty="0"/>
          </a:p>
        </p:txBody>
      </p:sp>
      <p:sp>
        <p:nvSpPr>
          <p:cNvPr id="35" name="Shape 33"/>
          <p:cNvSpPr/>
          <p:nvPr/>
        </p:nvSpPr>
        <p:spPr>
          <a:xfrm>
            <a:off x="0" y="4828032"/>
            <a:ext cx="9144000" cy="315468"/>
          </a:xfrm>
          <a:prstGeom prst="rect">
            <a:avLst/>
          </a:prstGeom>
          <a:solidFill>
            <a:srgbClr val="0B1230"/>
          </a:solidFill>
          <a:ln/>
        </p:spPr>
      </p:sp>
      <p:sp>
        <p:nvSpPr>
          <p:cNvPr id="36" name="Text 34"/>
          <p:cNvSpPr/>
          <p:nvPr/>
        </p:nvSpPr>
        <p:spPr>
          <a:xfrm>
            <a:off x="274320" y="4864608"/>
            <a:ext cx="8595360" cy="201168"/>
          </a:xfrm>
          <a:prstGeom prst="rect">
            <a:avLst/>
          </a:prstGeom>
          <a:noFill/>
          <a:ln/>
        </p:spPr>
        <p:txBody>
          <a:bodyPr wrap="square" lIns="0" tIns="0" rIns="0" bIns="0" rtlCol="0" anchor="ctr"/>
          <a:lstStyle/>
          <a:p>
            <a:pPr marL="0" indent="0" algn="ctr">
              <a:buNone/>
            </a:pPr>
            <a:r>
              <a:rPr lang="en-US" sz="800" dirty="0">
                <a:solidFill>
                  <a:srgbClr val="B0CCE0"/>
                </a:solidFill>
                <a:latin typeface="Calibri" pitchFamily="34" charset="0"/>
                <a:ea typeface="Calibri" pitchFamily="34" charset="-122"/>
                <a:cs typeface="Calibri" pitchFamily="34" charset="-120"/>
              </a:rPr>
              <a:t>Customer Data Analysis  |  PRDA-05  |  PTID-CDA-FEB-26-1336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5943600" y="2560320"/>
            <a:ext cx="5029200" cy="5029200"/>
          </a:xfrm>
          <a:prstGeom prst="ellipse">
            <a:avLst/>
          </a:prstGeom>
          <a:solidFill>
            <a:srgbClr val="0A7EA4">
              <a:alpha val="13000"/>
            </a:srgbClr>
          </a:solidFill>
          <a:ln/>
        </p:spPr>
      </p:sp>
      <p:sp>
        <p:nvSpPr>
          <p:cNvPr id="3" name="Shape 1"/>
          <p:cNvSpPr/>
          <p:nvPr/>
        </p:nvSpPr>
        <p:spPr>
          <a:xfrm>
            <a:off x="-1828800" y="-1371600"/>
            <a:ext cx="4114800" cy="4114800"/>
          </a:xfrm>
          <a:prstGeom prst="ellipse">
            <a:avLst/>
          </a:prstGeom>
          <a:solidFill>
            <a:srgbClr val="5EC8E5">
              <a:alpha val="12000"/>
            </a:srgbClr>
          </a:solidFill>
          <a:ln/>
        </p:spPr>
      </p:sp>
      <p:sp>
        <p:nvSpPr>
          <p:cNvPr id="4" name="Shape 2"/>
          <p:cNvSpPr/>
          <p:nvPr/>
        </p:nvSpPr>
        <p:spPr>
          <a:xfrm>
            <a:off x="0" y="0"/>
            <a:ext cx="9144000" cy="64008"/>
          </a:xfrm>
          <a:prstGeom prst="rect">
            <a:avLst/>
          </a:prstGeom>
          <a:solidFill>
            <a:srgbClr val="0A7EA4"/>
          </a:solidFill>
          <a:ln/>
        </p:spPr>
      </p:sp>
      <p:sp>
        <p:nvSpPr>
          <p:cNvPr id="5" name="Shape 3"/>
          <p:cNvSpPr/>
          <p:nvPr/>
        </p:nvSpPr>
        <p:spPr>
          <a:xfrm>
            <a:off x="0" y="5079492"/>
            <a:ext cx="9144000" cy="64008"/>
          </a:xfrm>
          <a:prstGeom prst="rect">
            <a:avLst/>
          </a:prstGeom>
          <a:solidFill>
            <a:srgbClr val="0A7EA4"/>
          </a:solidFill>
          <a:ln/>
        </p:spPr>
      </p:sp>
      <p:sp>
        <p:nvSpPr>
          <p:cNvPr id="6" name="Text 4"/>
          <p:cNvSpPr/>
          <p:nvPr/>
        </p:nvSpPr>
        <p:spPr>
          <a:xfrm>
            <a:off x="914400" y="502920"/>
            <a:ext cx="7315200" cy="914400"/>
          </a:xfrm>
          <a:prstGeom prst="rect">
            <a:avLst/>
          </a:prstGeom>
          <a:noFill/>
          <a:ln/>
        </p:spPr>
        <p:txBody>
          <a:bodyPr wrap="square" lIns="0" tIns="0" rIns="0" bIns="0" rtlCol="0" anchor="ctr"/>
          <a:lstStyle/>
          <a:p>
            <a:pPr marL="0" indent="0" algn="ctr">
              <a:buNone/>
            </a:pPr>
            <a:r>
              <a:rPr lang="en-US" sz="5000" b="1" dirty="0">
                <a:solidFill>
                  <a:srgbClr val="FFFFFF"/>
                </a:solidFill>
                <a:latin typeface="Trebuchet MS" pitchFamily="34" charset="0"/>
                <a:ea typeface="Trebuchet MS" pitchFamily="34" charset="-122"/>
                <a:cs typeface="Trebuchet MS" pitchFamily="34" charset="-120"/>
              </a:rPr>
              <a:t>Thank You</a:t>
            </a:r>
            <a:endParaRPr lang="en-US" sz="5000" dirty="0"/>
          </a:p>
        </p:txBody>
      </p:sp>
      <p:sp>
        <p:nvSpPr>
          <p:cNvPr id="7" name="Text 5"/>
          <p:cNvSpPr/>
          <p:nvPr/>
        </p:nvSpPr>
        <p:spPr>
          <a:xfrm>
            <a:off x="914400" y="1444752"/>
            <a:ext cx="7315200" cy="384048"/>
          </a:xfrm>
          <a:prstGeom prst="rect">
            <a:avLst/>
          </a:prstGeom>
          <a:noFill/>
          <a:ln/>
        </p:spPr>
        <p:txBody>
          <a:bodyPr wrap="square" lIns="0" tIns="0" rIns="0" bIns="0" rtlCol="0" anchor="ctr"/>
          <a:lstStyle/>
          <a:p>
            <a:pPr marL="0" indent="0" algn="ctr">
              <a:buNone/>
            </a:pPr>
            <a:r>
              <a:rPr lang="en-US" sz="1400" i="1" dirty="0">
                <a:solidFill>
                  <a:srgbClr val="5EC8E5"/>
                </a:solidFill>
                <a:latin typeface="Calibri" pitchFamily="34" charset="0"/>
                <a:ea typeface="Calibri" pitchFamily="34" charset="-122"/>
                <a:cs typeface="Calibri" pitchFamily="34" charset="-120"/>
              </a:rPr>
              <a:t>PRDA-05  |  Customer Data Analysis</a:t>
            </a:r>
            <a:endParaRPr lang="en-US" sz="1400" dirty="0"/>
          </a:p>
        </p:txBody>
      </p:sp>
      <p:sp>
        <p:nvSpPr>
          <p:cNvPr id="8" name="Shape 6"/>
          <p:cNvSpPr/>
          <p:nvPr/>
        </p:nvSpPr>
        <p:spPr>
          <a:xfrm>
            <a:off x="2286000" y="1965960"/>
            <a:ext cx="4572000" cy="36576"/>
          </a:xfrm>
          <a:prstGeom prst="rect">
            <a:avLst/>
          </a:prstGeom>
          <a:solidFill>
            <a:srgbClr val="0A7EA4"/>
          </a:solidFill>
          <a:ln/>
        </p:spPr>
      </p:sp>
      <p:sp>
        <p:nvSpPr>
          <p:cNvPr id="9" name="Text 7"/>
          <p:cNvSpPr/>
          <p:nvPr/>
        </p:nvSpPr>
        <p:spPr>
          <a:xfrm>
            <a:off x="914400" y="2148840"/>
            <a:ext cx="7315200" cy="384048"/>
          </a:xfrm>
          <a:prstGeom prst="rect">
            <a:avLst/>
          </a:prstGeom>
          <a:noFill/>
          <a:ln/>
        </p:spPr>
        <p:txBody>
          <a:bodyPr wrap="square" lIns="0" tIns="0" rIns="0" bIns="0" rtlCol="0" anchor="ctr"/>
          <a:lstStyle/>
          <a:p>
            <a:pPr marL="0" indent="0" algn="ctr">
              <a:buNone/>
            </a:pPr>
            <a:r>
              <a:rPr lang="en-US" sz="1200" b="1" kern="0" spc="400" dirty="0">
                <a:solidFill>
                  <a:srgbClr val="B0CCE0"/>
                </a:solidFill>
                <a:latin typeface="Trebuchet MS" pitchFamily="34" charset="0"/>
                <a:ea typeface="Trebuchet MS" pitchFamily="34" charset="-122"/>
                <a:cs typeface="Trebuchet MS" pitchFamily="34" charset="-120"/>
              </a:rPr>
              <a:t>PROJECT TEAM</a:t>
            </a:r>
            <a:endParaRPr lang="en-US" sz="1200" dirty="0"/>
          </a:p>
        </p:txBody>
      </p:sp>
      <p:sp>
        <p:nvSpPr>
          <p:cNvPr id="10" name="Shape 8"/>
          <p:cNvSpPr/>
          <p:nvPr/>
        </p:nvSpPr>
        <p:spPr>
          <a:xfrm>
            <a:off x="822960" y="2670048"/>
            <a:ext cx="1005840" cy="1005840"/>
          </a:xfrm>
          <a:prstGeom prst="ellipse">
            <a:avLst/>
          </a:prstGeom>
          <a:solidFill>
            <a:srgbClr val="0A7EA4"/>
          </a:solidFill>
          <a:ln/>
        </p:spPr>
      </p:sp>
      <p:sp>
        <p:nvSpPr>
          <p:cNvPr id="11" name="Text 9"/>
          <p:cNvSpPr/>
          <p:nvPr/>
        </p:nvSpPr>
        <p:spPr>
          <a:xfrm>
            <a:off x="822960" y="2807208"/>
            <a:ext cx="100584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KS</a:t>
            </a:r>
            <a:endParaRPr lang="en-US" sz="2000" dirty="0"/>
          </a:p>
        </p:txBody>
      </p:sp>
      <p:sp>
        <p:nvSpPr>
          <p:cNvPr id="12" name="Text 10"/>
          <p:cNvSpPr/>
          <p:nvPr/>
        </p:nvSpPr>
        <p:spPr>
          <a:xfrm>
            <a:off x="274320" y="3767328"/>
            <a:ext cx="2084832"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Kabir Sayyed</a:t>
            </a:r>
            <a:endParaRPr lang="en-US" sz="1100" dirty="0"/>
          </a:p>
        </p:txBody>
      </p:sp>
      <p:sp>
        <p:nvSpPr>
          <p:cNvPr id="13" name="Shape 11"/>
          <p:cNvSpPr/>
          <p:nvPr/>
        </p:nvSpPr>
        <p:spPr>
          <a:xfrm>
            <a:off x="2999232" y="2670048"/>
            <a:ext cx="1005840" cy="1005840"/>
          </a:xfrm>
          <a:prstGeom prst="ellipse">
            <a:avLst/>
          </a:prstGeom>
          <a:solidFill>
            <a:srgbClr val="0A7EA4"/>
          </a:solidFill>
          <a:ln/>
        </p:spPr>
      </p:sp>
      <p:sp>
        <p:nvSpPr>
          <p:cNvPr id="14" name="Text 12"/>
          <p:cNvSpPr/>
          <p:nvPr/>
        </p:nvSpPr>
        <p:spPr>
          <a:xfrm>
            <a:off x="2999232" y="2807208"/>
            <a:ext cx="100584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DD</a:t>
            </a:r>
            <a:endParaRPr lang="en-US" sz="2000" dirty="0"/>
          </a:p>
        </p:txBody>
      </p:sp>
      <p:sp>
        <p:nvSpPr>
          <p:cNvPr id="15" name="Text 13"/>
          <p:cNvSpPr/>
          <p:nvPr/>
        </p:nvSpPr>
        <p:spPr>
          <a:xfrm>
            <a:off x="2450592" y="3767328"/>
            <a:ext cx="2084832"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Dinesh Dadi</a:t>
            </a:r>
            <a:endParaRPr lang="en-US" sz="1100" dirty="0"/>
          </a:p>
        </p:txBody>
      </p:sp>
      <p:sp>
        <p:nvSpPr>
          <p:cNvPr id="16" name="Shape 14"/>
          <p:cNvSpPr/>
          <p:nvPr/>
        </p:nvSpPr>
        <p:spPr>
          <a:xfrm>
            <a:off x="5175504" y="2670048"/>
            <a:ext cx="1005840" cy="1005840"/>
          </a:xfrm>
          <a:prstGeom prst="ellipse">
            <a:avLst/>
          </a:prstGeom>
          <a:solidFill>
            <a:srgbClr val="0A7EA4"/>
          </a:solidFill>
          <a:ln/>
        </p:spPr>
      </p:sp>
      <p:sp>
        <p:nvSpPr>
          <p:cNvPr id="17" name="Text 15"/>
          <p:cNvSpPr/>
          <p:nvPr/>
        </p:nvSpPr>
        <p:spPr>
          <a:xfrm>
            <a:off x="5175504" y="2807208"/>
            <a:ext cx="100584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SS</a:t>
            </a:r>
            <a:endParaRPr lang="en-US" sz="2000" dirty="0"/>
          </a:p>
        </p:txBody>
      </p:sp>
      <p:sp>
        <p:nvSpPr>
          <p:cNvPr id="18" name="Text 16"/>
          <p:cNvSpPr/>
          <p:nvPr/>
        </p:nvSpPr>
        <p:spPr>
          <a:xfrm>
            <a:off x="4626864" y="3767328"/>
            <a:ext cx="2084832"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Shahid Sayyed</a:t>
            </a:r>
            <a:endParaRPr lang="en-US" sz="1100" dirty="0"/>
          </a:p>
        </p:txBody>
      </p:sp>
      <p:sp>
        <p:nvSpPr>
          <p:cNvPr id="19" name="Shape 17"/>
          <p:cNvSpPr/>
          <p:nvPr/>
        </p:nvSpPr>
        <p:spPr>
          <a:xfrm>
            <a:off x="7351776" y="2670048"/>
            <a:ext cx="1005840" cy="1005840"/>
          </a:xfrm>
          <a:prstGeom prst="ellipse">
            <a:avLst/>
          </a:prstGeom>
          <a:solidFill>
            <a:srgbClr val="0A7EA4"/>
          </a:solidFill>
          <a:ln/>
        </p:spPr>
      </p:sp>
      <p:sp>
        <p:nvSpPr>
          <p:cNvPr id="20" name="Text 18"/>
          <p:cNvSpPr/>
          <p:nvPr/>
        </p:nvSpPr>
        <p:spPr>
          <a:xfrm>
            <a:off x="7351776" y="2807208"/>
            <a:ext cx="100584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TR</a:t>
            </a:r>
            <a:endParaRPr lang="en-US" sz="2000" dirty="0"/>
          </a:p>
        </p:txBody>
      </p:sp>
      <p:sp>
        <p:nvSpPr>
          <p:cNvPr id="21" name="Text 19"/>
          <p:cNvSpPr/>
          <p:nvPr/>
        </p:nvSpPr>
        <p:spPr>
          <a:xfrm>
            <a:off x="6803136" y="3767328"/>
            <a:ext cx="2084832"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Tarun Rajeshji</a:t>
            </a:r>
            <a:endParaRPr lang="en-US" sz="1100" dirty="0"/>
          </a:p>
        </p:txBody>
      </p:sp>
      <p:sp>
        <p:nvSpPr>
          <p:cNvPr id="22" name="Text 20"/>
          <p:cNvSpPr/>
          <p:nvPr/>
        </p:nvSpPr>
        <p:spPr>
          <a:xfrm>
            <a:off x="914400" y="4434840"/>
            <a:ext cx="7315200" cy="347472"/>
          </a:xfrm>
          <a:prstGeom prst="rect">
            <a:avLst/>
          </a:prstGeom>
          <a:noFill/>
          <a:ln/>
        </p:spPr>
        <p:txBody>
          <a:bodyPr wrap="square" lIns="0" tIns="0" rIns="0" bIns="0" rtlCol="0" anchor="ctr"/>
          <a:lstStyle/>
          <a:p>
            <a:pPr marL="0" indent="0" algn="ctr">
              <a:buNone/>
            </a:pPr>
            <a:r>
              <a:rPr lang="en-US" sz="1100" dirty="0">
                <a:solidFill>
                  <a:srgbClr val="B0CCE0"/>
                </a:solidFill>
                <a:latin typeface="Calibri" pitchFamily="34" charset="0"/>
                <a:ea typeface="Calibri" pitchFamily="34" charset="-122"/>
                <a:cs typeface="Calibri" pitchFamily="34" charset="-120"/>
              </a:rPr>
              <a:t>PTID-CDA-FEB-26-1336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521</TotalTime>
  <Words>1799</Words>
  <Application>Microsoft Office PowerPoint</Application>
  <PresentationFormat>On-screen Show (16:9)</PresentationFormat>
  <Paragraphs>287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Data Analysis - PRDA-05</dc:title>
  <dc:subject>PptxGenJS Presentation</dc:subject>
  <dc:creator>PptxGenJS</dc:creator>
  <cp:lastModifiedBy>Kabir Sayyed</cp:lastModifiedBy>
  <cp:revision>4</cp:revision>
  <dcterms:created xsi:type="dcterms:W3CDTF">2026-03-06T17:50:06Z</dcterms:created>
  <dcterms:modified xsi:type="dcterms:W3CDTF">2026-03-07T02:34:33Z</dcterms:modified>
</cp:coreProperties>
</file>